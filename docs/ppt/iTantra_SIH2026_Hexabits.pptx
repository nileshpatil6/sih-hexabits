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0F2744"/>
                </a:solidFill>
                <a:latin typeface="Calibri"/>
              </a:rPr>
              <a:t>Round-trip test: character error % per language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Character error %</c:v>
                </c:pt>
              </c:strCache>
            </c:strRef>
          </c:tx>
          <c:dPt>
            <c:idx val="0"/>
            <c:spPr>
              <a:solidFill>
                <a:srgbClr val="10B981"/>
              </a:solidFill>
            </c:spPr>
          </c:dPt>
          <c:dPt>
            <c:idx val="1"/>
            <c:spPr>
              <a:solidFill>
                <a:srgbClr val="10B981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10B981"/>
              </a:solidFill>
            </c:spPr>
          </c:dPt>
          <c:dPt>
            <c:idx val="6"/>
            <c:spPr>
              <a:solidFill>
                <a:srgbClr val="1E4A8A"/>
              </a:solidFill>
            </c:spPr>
          </c:dPt>
          <c:dPt>
            <c:idx val="7"/>
            <c:spPr>
              <a:solidFill>
                <a:srgbClr val="1E4A8A"/>
              </a:solidFill>
            </c:spPr>
          </c:dPt>
          <c:dPt>
            <c:idx val="8"/>
            <c:spPr>
              <a:solidFill>
                <a:srgbClr val="F97316"/>
              </a:solidFill>
            </c:spPr>
          </c:dPt>
          <c:dPt>
            <c:idx val="9"/>
            <c:spPr>
              <a:solidFill>
                <a:srgbClr val="F97316"/>
              </a:solidFill>
            </c:spPr>
          </c:dPt>
          <c:cat>
            <c:strRef>
              <c:f>Sheet1!$A$2:$A$11</c:f>
              <c:strCache>
                <c:ptCount val="10"/>
                <c:pt idx="0">
                  <c:v>Kannada</c:v>
                </c:pt>
                <c:pt idx="1">
                  <c:v>Marathi</c:v>
                </c:pt>
                <c:pt idx="2">
                  <c:v>Tamil</c:v>
                </c:pt>
                <c:pt idx="3">
                  <c:v>Bengali</c:v>
                </c:pt>
                <c:pt idx="4">
                  <c:v>Gujarati</c:v>
                </c:pt>
                <c:pt idx="5">
                  <c:v>Telugu</c:v>
                </c:pt>
                <c:pt idx="6">
                  <c:v>Odia</c:v>
                </c:pt>
                <c:pt idx="7">
                  <c:v>Hindi</c:v>
                </c:pt>
                <c:pt idx="8">
                  <c:v>English</c:v>
                </c:pt>
                <c:pt idx="9">
                  <c:v>Malayalam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1.0</c:v>
                </c:pt>
                <c:pt idx="1">
                  <c:v>1.2</c:v>
                </c:pt>
                <c:pt idx="2">
                  <c:v>2.0</c:v>
                </c:pt>
                <c:pt idx="3">
                  <c:v>3.2</c:v>
                </c:pt>
                <c:pt idx="4">
                  <c:v>3.3</c:v>
                </c:pt>
                <c:pt idx="5">
                  <c:v>3.3</c:v>
                </c:pt>
                <c:pt idx="6">
                  <c:v>6.0</c:v>
                </c:pt>
                <c:pt idx="7">
                  <c:v>8.5</c:v>
                </c:pt>
                <c:pt idx="8">
                  <c:v>10.2</c:v>
                </c:pt>
                <c:pt idx="9">
                  <c:v>13.6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50" b="1">
                  <a:solidFill>
                    <a:srgbClr val="33415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800">
                <a:solidFill>
                  <a:srgbClr val="64748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</c:scaling>
        <c:delete/>
        <c:axPos val="l"/>
        <c:majorGridlines>
          <c:spPr>
            <a:ln>
              <a:solidFill>
                <a:srgbClr val="F1F4F8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bar compares bytes for one 3.5 second sentence: 64 kbps raw voice is 28,000 bytes, Opus 16 kbps is 7,000, our signed packet is 234 bytes (22 B header, text, 64 B Ed25519 signature).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Everything runs on the phone: Flutter UI, Kotlin native layer, sherpa-onnx for STT, TTS and VAD. The prototype runs on a OnePlus today; timings are measured on that phone.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is shown, not claimed: the app runs today and all 10 languages pass a round-trip check. The RAM figure is an estimate to confirm with dumpsys meminfo on a 3 GB phone.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Census 2011: Hindi, Bengali, Marathi, Telugu, Tamil, Gujarati, Kannada, Odia and Malayalam together are ~85% of mother-tongue speakers; literacy 74% means ~26% of people aged 7+ cannot read.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All links are clickable in the PDF export.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iTantra turns speech into a tiny signed text packet on the sender's phone, relays it phone to phone over Bluetooth and Wi-Fi Direct, and speaks it again on the receiver. No tower, internet or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7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13.png"/><Relationship Id="rId13" Type="http://schemas.openxmlformats.org/officeDocument/2006/relationships/image" Target="../media/image24.png"/><Relationship Id="rId14" Type="http://schemas.openxmlformats.org/officeDocument/2006/relationships/image" Target="../media/image18.png"/><Relationship Id="rId15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chart" Target="../charts/chart1.xml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2.png"/><Relationship Id="rId6" Type="http://schemas.openxmlformats.org/officeDocument/2006/relationships/hyperlink" Target="https://github.com/AI4Bharat/IndicConformerASR" TargetMode="External"/><Relationship Id="rId7" Type="http://schemas.openxmlformats.org/officeDocument/2006/relationships/hyperlink" Target="https://github.com/k2-fsa/sherpa-onnx" TargetMode="External"/><Relationship Id="rId8" Type="http://schemas.openxmlformats.org/officeDocument/2006/relationships/hyperlink" Target="https://huggingface.co/facebook/mms-tts" TargetMode="External"/><Relationship Id="rId9" Type="http://schemas.openxmlformats.org/officeDocument/2006/relationships/hyperlink" Target="https://github.com/snakers4/silero-vad" TargetMode="External"/><Relationship Id="rId10" Type="http://schemas.openxmlformats.org/officeDocument/2006/relationships/hyperlink" Target="https://huggingface.co/parismitaglobalsolutions/indicconformer-sherpa-onnx" TargetMode="External"/><Relationship Id="rId11" Type="http://schemas.openxmlformats.org/officeDocument/2006/relationships/image" Target="../media/image43.png"/><Relationship Id="rId12" Type="http://schemas.openxmlformats.org/officeDocument/2006/relationships/hyperlink" Target="https://arxiv.org/abs/2403.01926" TargetMode="External"/><Relationship Id="rId13" Type="http://schemas.openxmlformats.org/officeDocument/2006/relationships/hyperlink" Target="https://arxiv.org/abs/2512.00451" TargetMode="External"/><Relationship Id="rId14" Type="http://schemas.openxmlformats.org/officeDocument/2006/relationships/hyperlink" Target="https://github.com/AI4Bharat/IndicVoices-R" TargetMode="External"/><Relationship Id="rId15" Type="http://schemas.openxmlformats.org/officeDocument/2006/relationships/hyperlink" Target="https://vaani.iisc.ac.in/dataset/syspindataset" TargetMode="External"/><Relationship Id="rId16" Type="http://schemas.openxmlformats.org/officeDocument/2006/relationships/hyperlink" Target="https://github.com/permissionlesstech/bitchat" TargetMode="External"/><Relationship Id="rId17" Type="http://schemas.openxmlformats.org/officeDocument/2006/relationships/image" Target="../media/image44.png"/><Relationship Id="rId18" Type="http://schemas.openxmlformats.org/officeDocument/2006/relationships/hyperlink" Target="https://en.wikipedia.org/wiki/FireChat" TargetMode="External"/><Relationship Id="rId19" Type="http://schemas.openxmlformats.org/officeDocument/2006/relationships/hyperlink" Target="https://www.forbes.com/sites/digital-assets/2025/09/11/jack-dorseys-bitchat-gains-traction-during-nepals-unrest/" TargetMode="External"/><Relationship Id="rId20" Type="http://schemas.openxmlformats.org/officeDocument/2006/relationships/hyperlink" Target="https://techcrunch.com/2020/11/02/bridgefy-launches-end-to-end-encrypted-messaging-for-the-app-used-during-protests-and-disasters/" TargetMode="External"/><Relationship Id="rId21" Type="http://schemas.openxmlformats.org/officeDocument/2006/relationships/hyperlink" Target="https://censusindia.gov.in" TargetMode="External"/><Relationship Id="rId22" Type="http://schemas.openxmlformats.org/officeDocument/2006/relationships/hyperlink" Target="https://ndma.gov.in" TargetMode="External"/><Relationship Id="rId23" Type="http://schemas.openxmlformats.org/officeDocument/2006/relationships/image" Target="../media/image5.png"/><Relationship Id="rId24" Type="http://schemas.openxmlformats.org/officeDocument/2006/relationships/image" Target="../media/image45.png"/><Relationship Id="rId25" Type="http://schemas.openxmlformats.org/officeDocument/2006/relationships/hyperlink" Target="https://github.com/nileshpatil6/SIH-Hexabits" TargetMode="External"/><Relationship Id="rId26" Type="http://schemas.openxmlformats.org/officeDocument/2006/relationships/image" Target="../media/image46.png"/><Relationship Id="rId27" Type="http://schemas.openxmlformats.org/officeDocument/2006/relationships/hyperlink" Target="https://huggingface.co/datasets/Mr66/itantra-pa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rgbClr val="0F2744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rgbClr val="0F2744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7178040" y="1965960"/>
            <a:ext cx="3474720" cy="3474720"/>
          </a:xfrm>
          <a:prstGeom prst="ellipse">
            <a:avLst/>
          </a:prstGeom>
          <a:noFill/>
          <a:ln w="12700">
            <a:solidFill>
              <a:srgbClr val="F97316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793992" y="1581912"/>
            <a:ext cx="4242816" cy="4242816"/>
          </a:xfrm>
          <a:prstGeom prst="ellipse">
            <a:avLst/>
          </a:prstGeom>
          <a:noFill/>
          <a:ln w="12700">
            <a:solidFill>
              <a:srgbClr val="F97316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409944" y="1197864"/>
            <a:ext cx="5010912" cy="5010912"/>
          </a:xfrm>
          <a:prstGeom prst="ellipse">
            <a:avLst/>
          </a:prstGeom>
          <a:noFill/>
          <a:ln w="12700">
            <a:solidFill>
              <a:srgbClr val="F97316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v2_title_hero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4937760" cy="431086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502920" y="1417320"/>
            <a:ext cx="2225360" cy="31089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02920" y="1417320"/>
            <a:ext cx="22253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1E4A8A"/>
                </a:solidFill>
                <a:latin typeface="Calibri"/>
              </a:rPr>
              <a:t>SIH 2026  •  PS SIH26173  •  ISRO</a:t>
            </a:r>
          </a:p>
        </p:txBody>
      </p:sp>
      <p:pic>
        <p:nvPicPr>
          <p:cNvPr id="45" name="Picture 44" descr="logo-itantra-v1-20260930-170705-transpar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47088"/>
            <a:ext cx="960120" cy="9601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63040" y="1810512"/>
            <a:ext cx="502920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4800" b="1" i="0">
                <a:solidFill>
                  <a:srgbClr val="0F2744"/>
                </a:solidFill>
                <a:latin typeface="Calibri"/>
              </a:rPr>
              <a:t>iTantra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0472" y="2487168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0" i="0">
                <a:solidFill>
                  <a:srgbClr val="334155"/>
                </a:solidFill>
                <a:latin typeface="Calibri"/>
              </a:rPr>
              <a:t>Voice that travels as </a:t>
            </a:r>
            <a:r>
              <a:rPr sz="1900" b="1" i="0">
                <a:solidFill>
                  <a:srgbClr val="F97316"/>
                </a:solidFill>
                <a:latin typeface="Calibri"/>
              </a:rPr>
              <a:t>meaning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2971800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Speech in, a 234-byte signed packet across a phone-to-phone mesh, speech out. No tower, no internet, 10 Indian languages, on 3 GB phones.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3675887"/>
            <a:ext cx="576072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9224" y="3749039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PROBLEM STATEMENT TITLE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" y="3950207"/>
            <a:ext cx="5486400" cy="42062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iTantra: Indian Multilingual TTS &amp; STT Aided Neural Transceiver Radio Access for low bitrate links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" y="4498848"/>
            <a:ext cx="185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9224" y="4572000"/>
            <a:ext cx="1584959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PROBLEM STATEMENT ID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" y="4773168"/>
            <a:ext cx="1584959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>SIH26173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53640" y="4498848"/>
            <a:ext cx="185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599944" y="4572000"/>
            <a:ext cx="1584959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THEME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99944" y="4773168"/>
            <a:ext cx="1584959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>Miscellaneous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4360" y="4498848"/>
            <a:ext cx="185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550664" y="4572000"/>
            <a:ext cx="1584959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PS CATEGORY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50664" y="4773168"/>
            <a:ext cx="1584959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>Software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5193792"/>
            <a:ext cx="185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49224" y="5266944"/>
            <a:ext cx="1584959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TEAM 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" y="5468112"/>
            <a:ext cx="1584959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/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53640" y="5193792"/>
            <a:ext cx="3809999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2599944" y="5266944"/>
            <a:ext cx="3535679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TEAM NAME (REGISTERED ON PORTAL)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99944" y="5468112"/>
            <a:ext cx="3535679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>Hexabits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00800" y="5897880"/>
            <a:ext cx="125089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6455664" y="5934456"/>
            <a:ext cx="310896" cy="310896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off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061" y="6002853"/>
            <a:ext cx="174101" cy="174101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812280" y="5897880"/>
            <a:ext cx="793699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100% offline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743139" y="5897880"/>
            <a:ext cx="1484985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798003" y="5934456"/>
            <a:ext cx="310896" cy="310896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pa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6400" y="6002853"/>
            <a:ext cx="174101" cy="17410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154619" y="5897880"/>
            <a:ext cx="1027785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234 B / sentence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19564" y="5897880"/>
            <a:ext cx="125089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374428" y="5934456"/>
            <a:ext cx="310896" cy="310896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284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7" name="Picture 76" descr="lan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2825" y="6002853"/>
            <a:ext cx="174101" cy="17410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31044" y="5897880"/>
            <a:ext cx="793699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10 languages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661904" y="589788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10716768" y="5934456"/>
            <a:ext cx="310896" cy="310896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1" name="Picture 80" descr="so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5165" y="6002853"/>
            <a:ext cx="174101" cy="174101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1073384" y="5897880"/>
            <a:ext cx="676656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Alert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15362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solidFill>
                  <a:srgbClr val="0F274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iTantra: Send the Meaning, Not the Audio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50" b="1">
                <a:solidFill>
                  <a:srgbClr val="0F2744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45720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932688" y="1170432"/>
            <a:ext cx="1077163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Proposed Solution (Describe your Idea/Solution/Prototype)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932688" y="1517904"/>
            <a:ext cx="1078992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Detailed explanation: speech is recognised on the phone, sent as a few hundred bytes of signed text over a phone-to-phone mesh, and spoken again on the receiving phone.</a:t>
            </a:r>
          </a:p>
        </p:txBody>
      </p:sp>
      <p:pic>
        <p:nvPicPr>
          <p:cNvPr id="15368" name="Picture 15367" descr="v2_pipeline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727" y="1810512"/>
            <a:ext cx="8778240" cy="2642719"/>
          </a:xfrm>
          <a:prstGeom prst="rect">
            <a:avLst/>
          </a:prstGeom>
        </p:spPr>
      </p:pic>
      <p:sp>
        <p:nvSpPr>
          <p:cNvPr id="15369" name="Rounded Rectangle 15368"/>
          <p:cNvSpPr/>
          <p:nvPr/>
        </p:nvSpPr>
        <p:spPr>
          <a:xfrm>
            <a:off x="1033729" y="4041488"/>
            <a:ext cx="29260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0" name="Oval 15369"/>
          <p:cNvSpPr/>
          <p:nvPr/>
        </p:nvSpPr>
        <p:spPr>
          <a:xfrm>
            <a:off x="1125169" y="4142072"/>
            <a:ext cx="402336" cy="402336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1" name="Picture 15370" descr="mic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729" y="4238632"/>
            <a:ext cx="209214" cy="209214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1618945" y="4087208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1  Speak + on-device STT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618945" y="4343240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VAD finds the pause, IndicConformer writes it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369460" y="4041488"/>
            <a:ext cx="29260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Oval 15374"/>
          <p:cNvSpPr/>
          <p:nvPr/>
        </p:nvSpPr>
        <p:spPr>
          <a:xfrm>
            <a:off x="4460900" y="4142072"/>
            <a:ext cx="402336" cy="402336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76" name="Picture 15375" descr="me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7461" y="4238632"/>
            <a:ext cx="209214" cy="209214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4954676" y="4087208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2  234 B packet hops the mesh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4954676" y="4343240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BLE + Wi-Fi Direct relays, up to 7 hops, no tower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7968538" y="4041488"/>
            <a:ext cx="29260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0" name="Oval 15379"/>
          <p:cNvSpPr/>
          <p:nvPr/>
        </p:nvSpPr>
        <p:spPr>
          <a:xfrm>
            <a:off x="8059978" y="4142072"/>
            <a:ext cx="402336" cy="402336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81" name="Picture 15380" descr="speaker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6539" y="4238632"/>
            <a:ext cx="209214" cy="209214"/>
          </a:xfrm>
          <a:prstGeom prst="rect">
            <a:avLst/>
          </a:prstGeom>
        </p:spPr>
      </p:pic>
      <p:sp>
        <p:nvSpPr>
          <p:cNvPr id="15382" name="TextBox 15381"/>
          <p:cNvSpPr txBox="1"/>
          <p:nvPr/>
        </p:nvSpPr>
        <p:spPr>
          <a:xfrm>
            <a:off x="8553754" y="4087208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3  On-device TTS speaks it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8553754" y="4343240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Voice note; ALERTs ring at max volume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57200" y="4700016"/>
            <a:ext cx="553212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5" name="TextBox 15384"/>
          <p:cNvSpPr txBox="1"/>
          <p:nvPr/>
        </p:nvSpPr>
        <p:spPr>
          <a:xfrm>
            <a:off x="640080" y="4791455"/>
            <a:ext cx="5166359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50" b="1" i="0">
                <a:solidFill>
                  <a:srgbClr val="0F2744"/>
                </a:solidFill>
                <a:latin typeface="Calibri"/>
              </a:rPr>
              <a:t>How it addresses the problem:  </a:t>
            </a:r>
            <a:r>
              <a:rPr sz="1150" b="0" i="0">
                <a:solidFill>
                  <a:srgbClr val="64748B"/>
                </a:solidFill>
                <a:latin typeface="Calibri"/>
              </a:rPr>
              <a:t>bytes to send one 3.5 s sentence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640080" y="5111496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Raw voice, 64 kbps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2423160" y="5166359"/>
            <a:ext cx="2697479" cy="164592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TextBox 15387"/>
          <p:cNvSpPr txBox="1"/>
          <p:nvPr/>
        </p:nvSpPr>
        <p:spPr>
          <a:xfrm>
            <a:off x="5212079" y="5111496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 i="0">
                <a:solidFill>
                  <a:srgbClr val="0F2744"/>
                </a:solidFill>
                <a:latin typeface="Calibri"/>
              </a:rPr>
              <a:t>28,000 B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640080" y="5404104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Opus codec, 16 kbps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2423160" y="5458968"/>
            <a:ext cx="674369" cy="16459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1" name="TextBox 15390"/>
          <p:cNvSpPr txBox="1"/>
          <p:nvPr/>
        </p:nvSpPr>
        <p:spPr>
          <a:xfrm>
            <a:off x="3188970" y="5404104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 i="0">
                <a:solidFill>
                  <a:srgbClr val="0F2744"/>
                </a:solidFill>
                <a:latin typeface="Calibri"/>
              </a:rPr>
              <a:t>7,000 B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640080" y="5696712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 i="0">
                <a:solidFill>
                  <a:srgbClr val="334155"/>
                </a:solidFill>
                <a:latin typeface="Calibri"/>
              </a:rPr>
              <a:t>iTantra packet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2423160" y="5751575"/>
            <a:ext cx="54864" cy="16459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TextBox 15393"/>
          <p:cNvSpPr txBox="1"/>
          <p:nvPr/>
        </p:nvSpPr>
        <p:spPr>
          <a:xfrm>
            <a:off x="2569464" y="5696712"/>
            <a:ext cx="109728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 i="0">
                <a:solidFill>
                  <a:srgbClr val="F97316"/>
                </a:solidFill>
                <a:latin typeface="Calibri"/>
              </a:rPr>
              <a:t>234 B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3520440" y="5696712"/>
            <a:ext cx="1417320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6" name="TextBox 15395"/>
          <p:cNvSpPr txBox="1"/>
          <p:nvPr/>
        </p:nvSpPr>
        <p:spPr>
          <a:xfrm>
            <a:off x="3520440" y="5696712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120× smaller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640080" y="5980175"/>
            <a:ext cx="1821484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8" name="Picture 15397" descr="offline_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1" y="6007607"/>
            <a:ext cx="201168" cy="201168"/>
          </a:xfrm>
          <a:prstGeom prst="rect">
            <a:avLst/>
          </a:prstGeom>
        </p:spPr>
      </p:pic>
      <p:sp>
        <p:nvSpPr>
          <p:cNvPr id="15399" name="TextBox 15398"/>
          <p:cNvSpPr txBox="1"/>
          <p:nvPr/>
        </p:nvSpPr>
        <p:spPr>
          <a:xfrm>
            <a:off x="941832" y="5980175"/>
            <a:ext cx="149230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No tower, internet or server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2534716" y="5980175"/>
            <a:ext cx="1920239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1" name="Picture 15400" descr="hearing_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7868" y="6007607"/>
            <a:ext cx="201168" cy="201168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2836468" y="5980175"/>
            <a:ext cx="1591055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Heard by people who can't read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4528108" y="5980175"/>
            <a:ext cx="1377086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4" name="Picture 15403" descr="phone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1260" y="6007607"/>
            <a:ext cx="201168" cy="201168"/>
          </a:xfrm>
          <a:prstGeom prst="rect">
            <a:avLst/>
          </a:prstGeom>
        </p:spPr>
      </p:pic>
      <p:sp>
        <p:nvSpPr>
          <p:cNvPr id="15405" name="TextBox 15404"/>
          <p:cNvSpPr txBox="1"/>
          <p:nvPr/>
        </p:nvSpPr>
        <p:spPr>
          <a:xfrm>
            <a:off x="4829860" y="5980175"/>
            <a:ext cx="1047902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Runs on 3 GB phones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6199632" y="4681728"/>
            <a:ext cx="553212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407" name="Rounded Rectangle 15406"/>
          <p:cNvSpPr/>
          <p:nvPr/>
        </p:nvSpPr>
        <p:spPr>
          <a:xfrm>
            <a:off x="6199632" y="4974336"/>
            <a:ext cx="27020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08" name="Oval 15407"/>
          <p:cNvSpPr/>
          <p:nvPr/>
        </p:nvSpPr>
        <p:spPr>
          <a:xfrm>
            <a:off x="6309360" y="5065775"/>
            <a:ext cx="438912" cy="438912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F9731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09" name="Picture 15408" descr="wav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4698" y="5171114"/>
            <a:ext cx="228234" cy="228234"/>
          </a:xfrm>
          <a:prstGeom prst="rect">
            <a:avLst/>
          </a:prstGeom>
        </p:spPr>
      </p:pic>
      <p:sp>
        <p:nvSpPr>
          <p:cNvPr id="15410" name="TextBox 15409"/>
          <p:cNvSpPr txBox="1"/>
          <p:nvPr/>
        </p:nvSpPr>
        <p:spPr>
          <a:xfrm>
            <a:off x="6876288" y="5020055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Semantic radio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6876288" y="5285231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Sends meaning + prosody, not the waveform</a:t>
            </a:r>
          </a:p>
        </p:txBody>
      </p:sp>
      <p:sp>
        <p:nvSpPr>
          <p:cNvPr id="15412" name="Rounded Rectangle 15411"/>
          <p:cNvSpPr/>
          <p:nvPr/>
        </p:nvSpPr>
        <p:spPr>
          <a:xfrm>
            <a:off x="9029700" y="4974336"/>
            <a:ext cx="27020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3" name="Oval 15412"/>
          <p:cNvSpPr/>
          <p:nvPr/>
        </p:nvSpPr>
        <p:spPr>
          <a:xfrm>
            <a:off x="9139428" y="5065775"/>
            <a:ext cx="438912" cy="438912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F9731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4" name="Picture 15413" descr="alert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4766" y="5171114"/>
            <a:ext cx="228234" cy="228234"/>
          </a:xfrm>
          <a:prstGeom prst="rect">
            <a:avLst/>
          </a:prstGeom>
        </p:spPr>
      </p:pic>
      <p:sp>
        <p:nvSpPr>
          <p:cNvPr id="15415" name="TextBox 15414"/>
          <p:cNvSpPr txBox="1"/>
          <p:nvPr/>
        </p:nvSpPr>
        <p:spPr>
          <a:xfrm>
            <a:off x="9706356" y="5020055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Alert-first mesh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9706356" y="5285231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Floods all hops; loud until acknowledged</a:t>
            </a:r>
          </a:p>
        </p:txBody>
      </p:sp>
      <p:sp>
        <p:nvSpPr>
          <p:cNvPr id="15417" name="Rounded Rectangle 15416"/>
          <p:cNvSpPr/>
          <p:nvPr/>
        </p:nvSpPr>
        <p:spPr>
          <a:xfrm>
            <a:off x="6199632" y="5650992"/>
            <a:ext cx="27020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18" name="Oval 15417"/>
          <p:cNvSpPr/>
          <p:nvPr/>
        </p:nvSpPr>
        <p:spPr>
          <a:xfrm>
            <a:off x="6309360" y="5742431"/>
            <a:ext cx="438912" cy="438912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F274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19" name="Picture 15418" descr="lock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4698" y="5847770"/>
            <a:ext cx="228234" cy="228234"/>
          </a:xfrm>
          <a:prstGeom prst="rect">
            <a:avLst/>
          </a:prstGeom>
        </p:spPr>
      </p:pic>
      <p:sp>
        <p:nvSpPr>
          <p:cNvPr id="15420" name="TextBox 15419"/>
          <p:cNvSpPr txBox="1"/>
          <p:nvPr/>
        </p:nvSpPr>
        <p:spPr>
          <a:xfrm>
            <a:off x="6876288" y="5696712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Tamper-proof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6876288" y="5961888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Ed25519-signed; private messages encrypted</a:t>
            </a:r>
          </a:p>
        </p:txBody>
      </p:sp>
      <p:sp>
        <p:nvSpPr>
          <p:cNvPr id="15422" name="Rounded Rectangle 15421"/>
          <p:cNvSpPr/>
          <p:nvPr/>
        </p:nvSpPr>
        <p:spPr>
          <a:xfrm>
            <a:off x="9029700" y="5650992"/>
            <a:ext cx="2702052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23" name="Oval 15422"/>
          <p:cNvSpPr/>
          <p:nvPr/>
        </p:nvSpPr>
        <p:spPr>
          <a:xfrm>
            <a:off x="9139428" y="5742431"/>
            <a:ext cx="438912" cy="438912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E9F6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424" name="Picture 15423" descr="offline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4766" y="5847770"/>
            <a:ext cx="228234" cy="228234"/>
          </a:xfrm>
          <a:prstGeom prst="rect">
            <a:avLst/>
          </a:prstGeom>
        </p:spPr>
      </p:pic>
      <p:sp>
        <p:nvSpPr>
          <p:cNvPr id="15425" name="TextBox 15424"/>
          <p:cNvSpPr txBox="1"/>
          <p:nvPr/>
        </p:nvSpPr>
        <p:spPr>
          <a:xfrm>
            <a:off x="9706356" y="5696712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200" b="1" i="0">
                <a:solidFill>
                  <a:srgbClr val="0F2744"/>
                </a:solidFill>
                <a:latin typeface="Calibri"/>
              </a:rPr>
              <a:t>100% on-device</a:t>
            </a:r>
          </a:p>
        </p:txBody>
      </p:sp>
      <p:sp>
        <p:nvSpPr>
          <p:cNvPr id="15426" name="TextBox 15425"/>
          <p:cNvSpPr txBox="1"/>
          <p:nvPr/>
        </p:nvSpPr>
        <p:spPr>
          <a:xfrm>
            <a:off x="9706356" y="5961888"/>
            <a:ext cx="197053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No cloud API; packs download 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7410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solidFill>
                  <a:srgbClr val="0F274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50" b="1">
                <a:solidFill>
                  <a:srgbClr val="0F2744"/>
                </a:solidFill>
              </a:rPr>
              <a:t>Hexabits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45720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32688" y="1170432"/>
            <a:ext cx="6428231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572768"/>
            <a:ext cx="6903720" cy="17007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640080" y="1783080"/>
            <a:ext cx="128016" cy="128016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841247" y="1700784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APP &amp; UI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240280" y="1709928"/>
            <a:ext cx="1049731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2240280" y="1709928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Flutter (Dart)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63163" y="1709928"/>
            <a:ext cx="1163116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3363163" y="1709928"/>
            <a:ext cx="1163116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Kotlin (Android)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599432" y="1709928"/>
            <a:ext cx="993038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4599432" y="1709928"/>
            <a:ext cx="99303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Pigeon bridge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5665622" y="1709928"/>
            <a:ext cx="709574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5665622" y="1709928"/>
            <a:ext cx="709574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Riverpod</a:t>
            </a:r>
          </a:p>
        </p:txBody>
      </p:sp>
      <p:sp>
        <p:nvSpPr>
          <p:cNvPr id="17426" name="Oval 17425"/>
          <p:cNvSpPr/>
          <p:nvPr/>
        </p:nvSpPr>
        <p:spPr>
          <a:xfrm>
            <a:off x="640080" y="2167128"/>
            <a:ext cx="128016" cy="128016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841247" y="208483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ON-DEVICE AI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2240280" y="2093976"/>
            <a:ext cx="87965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2240280" y="2093976"/>
            <a:ext cx="87965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sherpa-onnx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193084" y="2093976"/>
            <a:ext cx="167335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3193084" y="2093976"/>
            <a:ext cx="167335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IndicConformer int8 (STT)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939588" y="2093976"/>
            <a:ext cx="1049731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4939588" y="2093976"/>
            <a:ext cx="104973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MMS VITS (TTS)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062472" y="209397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6062472" y="2093976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Silero VAD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40080" y="2551176"/>
            <a:ext cx="128016" cy="128016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841247" y="246888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MESH &amp; SECURITY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2240280" y="2478024"/>
            <a:ext cx="993038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TextBox 17438"/>
          <p:cNvSpPr txBox="1"/>
          <p:nvPr/>
        </p:nvSpPr>
        <p:spPr>
          <a:xfrm>
            <a:off x="2240280" y="2478024"/>
            <a:ext cx="99303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BLE GATT mesh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3306470" y="2478024"/>
            <a:ext cx="93634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3306470" y="2478024"/>
            <a:ext cx="936345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Wi-Fi Direct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4315968" y="2478024"/>
            <a:ext cx="652881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TextBox 17442"/>
          <p:cNvSpPr txBox="1"/>
          <p:nvPr/>
        </p:nvSpPr>
        <p:spPr>
          <a:xfrm>
            <a:off x="4315968" y="2478024"/>
            <a:ext cx="652881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Ed25519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042001" y="2478024"/>
            <a:ext cx="1219809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5042001" y="2478024"/>
            <a:ext cx="1219809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X25519 + ChaCha20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640080" y="2935224"/>
            <a:ext cx="128016" cy="128016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284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7" name="TextBox 17446"/>
          <p:cNvSpPr txBox="1"/>
          <p:nvPr/>
        </p:nvSpPr>
        <p:spPr>
          <a:xfrm>
            <a:off x="841247" y="2852928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MODEL TOOLING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2240280" y="2862072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2240280" y="2862072"/>
            <a:ext cx="59618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Python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2909620" y="2862072"/>
            <a:ext cx="766267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2909620" y="2862072"/>
            <a:ext cx="76626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ONNX int8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749040" y="2862072"/>
            <a:ext cx="93634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3749040" y="2862072"/>
            <a:ext cx="936345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Google Colab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4758537" y="2862072"/>
            <a:ext cx="12765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758537" y="2862072"/>
            <a:ext cx="1276502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0" i="0">
                <a:solidFill>
                  <a:srgbClr val="334155"/>
                </a:solidFill>
                <a:latin typeface="Calibri"/>
              </a:rPr>
              <a:t>Hugging Face packs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457200" y="3438144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457200" y="3438144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32688" y="3401568"/>
            <a:ext cx="6428231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Methodology and process for implementation (flow)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457200" y="3803904"/>
            <a:ext cx="6903720" cy="2487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Rounded Rectangle 17459"/>
          <p:cNvSpPr/>
          <p:nvPr/>
        </p:nvSpPr>
        <p:spPr>
          <a:xfrm rot="16200000">
            <a:off x="228600" y="430682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 rot="16200000">
            <a:off x="228600" y="4306824"/>
            <a:ext cx="10058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SENDER</a:t>
            </a:r>
          </a:p>
        </p:txBody>
      </p:sp>
      <p:sp>
        <p:nvSpPr>
          <p:cNvPr id="17462" name="Oval 17461"/>
          <p:cNvSpPr/>
          <p:nvPr/>
        </p:nvSpPr>
        <p:spPr>
          <a:xfrm>
            <a:off x="1243584" y="4005072"/>
            <a:ext cx="621792" cy="621792"/>
          </a:xfrm>
          <a:prstGeom prst="ellipse">
            <a:avLst/>
          </a:prstGeom>
          <a:noFill/>
          <a:ln w="9525">
            <a:solidFill>
              <a:srgbClr val="0F274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Oval 17462"/>
          <p:cNvSpPr/>
          <p:nvPr/>
        </p:nvSpPr>
        <p:spPr>
          <a:xfrm>
            <a:off x="1316736" y="4078224"/>
            <a:ext cx="475488" cy="475488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4" name="Picture 17463" descr="mic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853" y="4192341"/>
            <a:ext cx="247253" cy="247253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777240" y="464515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Mic 16 kHz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777240" y="480974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echo + noise cancel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920240" y="4315968"/>
            <a:ext cx="914400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Oval 17467"/>
          <p:cNvSpPr/>
          <p:nvPr/>
        </p:nvSpPr>
        <p:spPr>
          <a:xfrm>
            <a:off x="2889504" y="4005072"/>
            <a:ext cx="621792" cy="621792"/>
          </a:xfrm>
          <a:prstGeom prst="ellipse">
            <a:avLst/>
          </a:prstGeom>
          <a:noFill/>
          <a:ln w="9525">
            <a:solidFill>
              <a:srgbClr val="0F2744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Oval 17468"/>
          <p:cNvSpPr/>
          <p:nvPr/>
        </p:nvSpPr>
        <p:spPr>
          <a:xfrm>
            <a:off x="2962656" y="4078224"/>
            <a:ext cx="475488" cy="475488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0" name="Picture 17469" descr="wav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6773" y="4192341"/>
            <a:ext cx="247253" cy="247253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2423160" y="464515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Silero VAD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2423160" y="480974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pause = sentence end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3566160" y="4315968"/>
            <a:ext cx="914399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4" name="Oval 17473"/>
          <p:cNvSpPr/>
          <p:nvPr/>
        </p:nvSpPr>
        <p:spPr>
          <a:xfrm>
            <a:off x="4535424" y="4005072"/>
            <a:ext cx="621792" cy="621792"/>
          </a:xfrm>
          <a:prstGeom prst="ellipse">
            <a:avLst/>
          </a:prstGeom>
          <a:noFill/>
          <a:ln w="9525">
            <a:solidFill>
              <a:srgbClr val="F9731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5" name="Oval 17474"/>
          <p:cNvSpPr/>
          <p:nvPr/>
        </p:nvSpPr>
        <p:spPr>
          <a:xfrm>
            <a:off x="4608576" y="4078224"/>
            <a:ext cx="475488" cy="475488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6" name="Picture 17475" descr="st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693" y="4192341"/>
            <a:ext cx="247253" cy="247253"/>
          </a:xfrm>
          <a:prstGeom prst="rect">
            <a:avLst/>
          </a:prstGeom>
        </p:spPr>
      </p:pic>
      <p:sp>
        <p:nvSpPr>
          <p:cNvPr id="17477" name="TextBox 17476"/>
          <p:cNvSpPr txBox="1"/>
          <p:nvPr/>
        </p:nvSpPr>
        <p:spPr>
          <a:xfrm>
            <a:off x="4069080" y="464515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IndicConformer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4069080" y="480974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int8 CTC STT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5212080" y="4315968"/>
            <a:ext cx="914400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0" name="Oval 17479"/>
          <p:cNvSpPr/>
          <p:nvPr/>
        </p:nvSpPr>
        <p:spPr>
          <a:xfrm>
            <a:off x="6181344" y="4005072"/>
            <a:ext cx="621792" cy="621792"/>
          </a:xfrm>
          <a:prstGeom prst="ellipse">
            <a:avLst/>
          </a:prstGeom>
          <a:noFill/>
          <a:ln w="9525">
            <a:solidFill>
              <a:srgbClr val="F9731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Oval 17480"/>
          <p:cNvSpPr/>
          <p:nvPr/>
        </p:nvSpPr>
        <p:spPr>
          <a:xfrm>
            <a:off x="6254496" y="4078224"/>
            <a:ext cx="475488" cy="475488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2" name="Picture 17481" descr="packe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8613" y="4192341"/>
            <a:ext cx="247253" cy="247253"/>
          </a:xfrm>
          <a:prstGeom prst="rect">
            <a:avLst/>
          </a:prstGeom>
        </p:spPr>
      </p:pic>
      <p:sp>
        <p:nvSpPr>
          <p:cNvPr id="17483" name="TextBox 17482"/>
          <p:cNvSpPr txBox="1"/>
          <p:nvPr/>
        </p:nvSpPr>
        <p:spPr>
          <a:xfrm>
            <a:off x="5715000" y="464515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Packetiser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5715000" y="4809744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sign · fragment · TTL 7</a:t>
            </a:r>
          </a:p>
        </p:txBody>
      </p:sp>
      <p:sp>
        <p:nvSpPr>
          <p:cNvPr id="17485" name="Rounded Rectangle 17484"/>
          <p:cNvSpPr/>
          <p:nvPr/>
        </p:nvSpPr>
        <p:spPr>
          <a:xfrm>
            <a:off x="603504" y="5047488"/>
            <a:ext cx="6611112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6" name="Picture 17485" descr="bt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" y="5084064"/>
            <a:ext cx="201168" cy="201168"/>
          </a:xfrm>
          <a:prstGeom prst="rect">
            <a:avLst/>
          </a:prstGeom>
        </p:spPr>
      </p:pic>
      <p:pic>
        <p:nvPicPr>
          <p:cNvPr id="17487" name="Picture 17486" descr="wifi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084064"/>
            <a:ext cx="201168" cy="201168"/>
          </a:xfrm>
          <a:prstGeom prst="rect">
            <a:avLst/>
          </a:prstGeom>
        </p:spPr>
      </p:pic>
      <p:sp>
        <p:nvSpPr>
          <p:cNvPr id="17488" name="TextBox 17487"/>
          <p:cNvSpPr txBox="1"/>
          <p:nvPr/>
        </p:nvSpPr>
        <p:spPr>
          <a:xfrm>
            <a:off x="1325880" y="5047488"/>
            <a:ext cx="580644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MESH  </a:t>
            </a:r>
            <a:r>
              <a:rPr sz="950" b="0" i="0">
                <a:solidFill>
                  <a:srgbClr val="DBE7F7"/>
                </a:solidFill>
                <a:latin typeface="Calibri"/>
              </a:rPr>
              <a:t>verify → dedup → relay with jitter (≤7 hops) → store-and-forward outbox</a:t>
            </a:r>
          </a:p>
        </p:txBody>
      </p:sp>
      <p:sp>
        <p:nvSpPr>
          <p:cNvPr id="17489" name="Rounded Rectangle 17488"/>
          <p:cNvSpPr/>
          <p:nvPr/>
        </p:nvSpPr>
        <p:spPr>
          <a:xfrm rot="16200000">
            <a:off x="310896" y="5687568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0" name="TextBox 17489"/>
          <p:cNvSpPr txBox="1"/>
          <p:nvPr/>
        </p:nvSpPr>
        <p:spPr>
          <a:xfrm rot="16200000">
            <a:off x="310896" y="5687568"/>
            <a:ext cx="841248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RECEIVER</a:t>
            </a:r>
          </a:p>
        </p:txBody>
      </p:sp>
      <p:sp>
        <p:nvSpPr>
          <p:cNvPr id="17491" name="Oval 17490"/>
          <p:cNvSpPr/>
          <p:nvPr/>
        </p:nvSpPr>
        <p:spPr>
          <a:xfrm>
            <a:off x="1243584" y="5303520"/>
            <a:ext cx="621792" cy="621792"/>
          </a:xfrm>
          <a:prstGeom prst="ellipse">
            <a:avLst/>
          </a:prstGeom>
          <a:noFill/>
          <a:ln w="9525">
            <a:solidFill>
              <a:srgbClr val="0E9F6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2" name="Oval 17491"/>
          <p:cNvSpPr/>
          <p:nvPr/>
        </p:nvSpPr>
        <p:spPr>
          <a:xfrm>
            <a:off x="1316736" y="5376672"/>
            <a:ext cx="475488" cy="475488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3" name="Picture 17492" descr="shiel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0853" y="5490789"/>
            <a:ext cx="247253" cy="247253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777240" y="594360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Verify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777240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drop unsigned / replayed</a:t>
            </a:r>
          </a:p>
        </p:txBody>
      </p:sp>
      <p:cxnSp>
        <p:nvCxnSpPr>
          <p:cNvPr id="17496" name="Connector 17495"/>
          <p:cNvCxnSpPr/>
          <p:nvPr/>
        </p:nvCxnSpPr>
        <p:spPr>
          <a:xfrm>
            <a:off x="1920240" y="5614416"/>
            <a:ext cx="914400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7" name="Oval 17496"/>
          <p:cNvSpPr/>
          <p:nvPr/>
        </p:nvSpPr>
        <p:spPr>
          <a:xfrm>
            <a:off x="2889504" y="5303520"/>
            <a:ext cx="621792" cy="621792"/>
          </a:xfrm>
          <a:prstGeom prst="ellipse">
            <a:avLst/>
          </a:prstGeom>
          <a:noFill/>
          <a:ln w="9525">
            <a:solidFill>
              <a:srgbClr val="0E9F6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8" name="Oval 17497"/>
          <p:cNvSpPr/>
          <p:nvPr/>
        </p:nvSpPr>
        <p:spPr>
          <a:xfrm>
            <a:off x="2962656" y="5376672"/>
            <a:ext cx="475488" cy="475488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9" name="Picture 17498" descr="speaker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6773" y="5490789"/>
            <a:ext cx="247253" cy="247253"/>
          </a:xfrm>
          <a:prstGeom prst="rect">
            <a:avLst/>
          </a:prstGeom>
        </p:spPr>
      </p:pic>
      <p:sp>
        <p:nvSpPr>
          <p:cNvPr id="17500" name="TextBox 17499"/>
          <p:cNvSpPr txBox="1"/>
          <p:nvPr/>
        </p:nvSpPr>
        <p:spPr>
          <a:xfrm>
            <a:off x="2423160" y="594360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MMS VITS TTS</a:t>
            </a:r>
          </a:p>
        </p:txBody>
      </p:sp>
      <p:sp>
        <p:nvSpPr>
          <p:cNvPr id="17501" name="TextBox 17500"/>
          <p:cNvSpPr txBox="1"/>
          <p:nvPr/>
        </p:nvSpPr>
        <p:spPr>
          <a:xfrm>
            <a:off x="2423160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sender's language</a:t>
            </a:r>
          </a:p>
        </p:txBody>
      </p:sp>
      <p:cxnSp>
        <p:nvCxnSpPr>
          <p:cNvPr id="17502" name="Connector 17501"/>
          <p:cNvCxnSpPr/>
          <p:nvPr/>
        </p:nvCxnSpPr>
        <p:spPr>
          <a:xfrm>
            <a:off x="3566160" y="5614416"/>
            <a:ext cx="914399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3" name="Oval 17502"/>
          <p:cNvSpPr/>
          <p:nvPr/>
        </p:nvSpPr>
        <p:spPr>
          <a:xfrm>
            <a:off x="4535424" y="5303520"/>
            <a:ext cx="621792" cy="621792"/>
          </a:xfrm>
          <a:prstGeom prst="ellipse">
            <a:avLst/>
          </a:prstGeom>
          <a:noFill/>
          <a:ln w="9525">
            <a:solidFill>
              <a:srgbClr val="0284C7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04" name="Oval 17503"/>
          <p:cNvSpPr/>
          <p:nvPr/>
        </p:nvSpPr>
        <p:spPr>
          <a:xfrm>
            <a:off x="4608576" y="5376672"/>
            <a:ext cx="475488" cy="475488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284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5" name="Picture 17504" descr="hearing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22693" y="5490789"/>
            <a:ext cx="247253" cy="247253"/>
          </a:xfrm>
          <a:prstGeom prst="rect">
            <a:avLst/>
          </a:prstGeom>
        </p:spPr>
      </p:pic>
      <p:sp>
        <p:nvSpPr>
          <p:cNvPr id="17506" name="TextBox 17505"/>
          <p:cNvSpPr txBox="1"/>
          <p:nvPr/>
        </p:nvSpPr>
        <p:spPr>
          <a:xfrm>
            <a:off x="4069080" y="594360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Voice note</a:t>
            </a:r>
          </a:p>
        </p:txBody>
      </p:sp>
      <p:sp>
        <p:nvSpPr>
          <p:cNvPr id="17507" name="TextBox 17506"/>
          <p:cNvSpPr txBox="1"/>
          <p:nvPr/>
        </p:nvSpPr>
        <p:spPr>
          <a:xfrm>
            <a:off x="4069080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text shown with audio</a:t>
            </a:r>
          </a:p>
        </p:txBody>
      </p:sp>
      <p:cxnSp>
        <p:nvCxnSpPr>
          <p:cNvPr id="17508" name="Connector 17507"/>
          <p:cNvCxnSpPr/>
          <p:nvPr/>
        </p:nvCxnSpPr>
        <p:spPr>
          <a:xfrm>
            <a:off x="5212080" y="5614416"/>
            <a:ext cx="914400" cy="0"/>
          </a:xfrm>
          <a:prstGeom prst="line">
            <a:avLst/>
          </a:prstGeom>
          <a:ln w="15875">
            <a:solidFill>
              <a:srgbClr val="B6C2D1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09" name="Oval 17508"/>
          <p:cNvSpPr/>
          <p:nvPr/>
        </p:nvSpPr>
        <p:spPr>
          <a:xfrm>
            <a:off x="6181344" y="5303520"/>
            <a:ext cx="621792" cy="621792"/>
          </a:xfrm>
          <a:prstGeom prst="ellipse">
            <a:avLst/>
          </a:prstGeom>
          <a:noFill/>
          <a:ln w="9525">
            <a:solidFill>
              <a:srgbClr val="F9731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0" name="Oval 17509"/>
          <p:cNvSpPr/>
          <p:nvPr/>
        </p:nvSpPr>
        <p:spPr>
          <a:xfrm>
            <a:off x="6254496" y="5376672"/>
            <a:ext cx="475488" cy="475488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11" name="Picture 17510" descr="alert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8613" y="5490789"/>
            <a:ext cx="247253" cy="247253"/>
          </a:xfrm>
          <a:prstGeom prst="rect">
            <a:avLst/>
          </a:prstGeom>
        </p:spPr>
      </p:pic>
      <p:sp>
        <p:nvSpPr>
          <p:cNvPr id="17512" name="TextBox 17511"/>
          <p:cNvSpPr txBox="1"/>
          <p:nvPr/>
        </p:nvSpPr>
        <p:spPr>
          <a:xfrm>
            <a:off x="5715000" y="5943600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ALERT mode</a:t>
            </a:r>
          </a:p>
        </p:txBody>
      </p:sp>
      <p:sp>
        <p:nvSpPr>
          <p:cNvPr id="17513" name="TextBox 17512"/>
          <p:cNvSpPr txBox="1"/>
          <p:nvPr/>
        </p:nvSpPr>
        <p:spPr>
          <a:xfrm>
            <a:off x="5715000" y="6108192"/>
            <a:ext cx="1554480" cy="2194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max volume, repeat x3</a:t>
            </a:r>
          </a:p>
        </p:txBody>
      </p:sp>
      <p:sp>
        <p:nvSpPr>
          <p:cNvPr id="17514" name="Rounded Rectangle 17513"/>
          <p:cNvSpPr/>
          <p:nvPr/>
        </p:nvSpPr>
        <p:spPr>
          <a:xfrm>
            <a:off x="763524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5" name="TextBox 17514"/>
          <p:cNvSpPr txBox="1"/>
          <p:nvPr/>
        </p:nvSpPr>
        <p:spPr>
          <a:xfrm>
            <a:off x="763524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516" name="TextBox 17515"/>
          <p:cNvSpPr txBox="1"/>
          <p:nvPr/>
        </p:nvSpPr>
        <p:spPr>
          <a:xfrm>
            <a:off x="8110727" y="1170432"/>
            <a:ext cx="363931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Working prototype (Android)</a:t>
            </a:r>
          </a:p>
        </p:txBody>
      </p:sp>
      <p:sp>
        <p:nvSpPr>
          <p:cNvPr id="17517" name="Oval 17516"/>
          <p:cNvSpPr/>
          <p:nvPr/>
        </p:nvSpPr>
        <p:spPr>
          <a:xfrm>
            <a:off x="7643746" y="2482596"/>
            <a:ext cx="2834640" cy="2834640"/>
          </a:xfrm>
          <a:prstGeom prst="ellipse">
            <a:avLst/>
          </a:prstGeom>
          <a:noFill/>
          <a:ln w="12700">
            <a:solidFill>
              <a:srgbClr val="10B981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8" name="Oval 17517"/>
          <p:cNvSpPr/>
          <p:nvPr/>
        </p:nvSpPr>
        <p:spPr>
          <a:xfrm>
            <a:off x="7369426" y="2208275"/>
            <a:ext cx="3383280" cy="3383280"/>
          </a:xfrm>
          <a:prstGeom prst="ellipse">
            <a:avLst/>
          </a:prstGeom>
          <a:noFill/>
          <a:ln w="12700">
            <a:solidFill>
              <a:srgbClr val="10B981">
                <a:alpha val="11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19" name="Oval 17518"/>
          <p:cNvSpPr/>
          <p:nvPr/>
        </p:nvSpPr>
        <p:spPr>
          <a:xfrm>
            <a:off x="7095106" y="1933955"/>
            <a:ext cx="3931920" cy="3931920"/>
          </a:xfrm>
          <a:prstGeom prst="ellipse">
            <a:avLst/>
          </a:prstGeom>
          <a:noFill/>
          <a:ln w="12700">
            <a:solidFill>
              <a:srgbClr val="10B981">
                <a:alpha val="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0" name="Rounded Rectangle 17519"/>
          <p:cNvSpPr/>
          <p:nvPr/>
        </p:nvSpPr>
        <p:spPr>
          <a:xfrm>
            <a:off x="8240981" y="2113407"/>
            <a:ext cx="1616973" cy="357763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21" name="Picture 17520" descr="v2_phone_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0" y="1591056"/>
            <a:ext cx="2577332" cy="4617720"/>
          </a:xfrm>
          <a:prstGeom prst="rect">
            <a:avLst/>
          </a:prstGeom>
        </p:spPr>
      </p:pic>
      <p:sp>
        <p:nvSpPr>
          <p:cNvPr id="17522" name="TextBox 17521"/>
          <p:cNvSpPr txBox="1"/>
          <p:nvPr/>
        </p:nvSpPr>
        <p:spPr>
          <a:xfrm>
            <a:off x="8350709" y="2259711"/>
            <a:ext cx="1452381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Talk · </a:t>
            </a:r>
            <a:r>
              <a:rPr sz="1100" b="1" i="0">
                <a:solidFill>
                  <a:srgbClr val="0F2744"/>
                </a:solidFill>
                <a:latin typeface="Nirmala UI"/>
              </a:rPr>
              <a:t>हिन्दी</a:t>
            </a:r>
          </a:p>
        </p:txBody>
      </p:sp>
      <p:sp>
        <p:nvSpPr>
          <p:cNvPr id="17523" name="Rectangle 17522"/>
          <p:cNvSpPr/>
          <p:nvPr/>
        </p:nvSpPr>
        <p:spPr>
          <a:xfrm>
            <a:off x="8277557" y="2570607"/>
            <a:ext cx="1543821" cy="219456"/>
          </a:xfrm>
          <a:prstGeom prst="rect">
            <a:avLst/>
          </a:prstGeom>
          <a:solidFill>
            <a:srgbClr val="EE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4" name="TextBox 17523"/>
          <p:cNvSpPr txBox="1"/>
          <p:nvPr/>
        </p:nvSpPr>
        <p:spPr>
          <a:xfrm>
            <a:off x="8314133" y="2570607"/>
            <a:ext cx="1488957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650" b="0" i="0">
                <a:solidFill>
                  <a:srgbClr val="10B981"/>
                </a:solidFill>
                <a:latin typeface="Calibri"/>
              </a:rPr>
              <a:t>● </a:t>
            </a:r>
            <a:r>
              <a:rPr sz="650" b="0" i="0">
                <a:solidFill>
                  <a:srgbClr val="334155"/>
                </a:solidFill>
                <a:latin typeface="Calibri"/>
              </a:rPr>
              <a:t>STT ready  </a:t>
            </a:r>
            <a:r>
              <a:rPr sz="650" b="0" i="0">
                <a:solidFill>
                  <a:srgbClr val="10B981"/>
                </a:solidFill>
                <a:latin typeface="Calibri"/>
              </a:rPr>
              <a:t>● </a:t>
            </a:r>
            <a:r>
              <a:rPr sz="650" b="0" i="0">
                <a:solidFill>
                  <a:srgbClr val="334155"/>
                </a:solidFill>
                <a:latin typeface="Calibri"/>
              </a:rPr>
              <a:t>Voice  </a:t>
            </a:r>
            <a:r>
              <a:rPr sz="650" b="0" i="0">
                <a:solidFill>
                  <a:srgbClr val="10B981"/>
                </a:solidFill>
                <a:latin typeface="Calibri"/>
              </a:rPr>
              <a:t>● </a:t>
            </a:r>
            <a:r>
              <a:rPr sz="650" b="0" i="0">
                <a:solidFill>
                  <a:srgbClr val="334155"/>
                </a:solidFill>
                <a:latin typeface="Calibri"/>
              </a:rPr>
              <a:t>Offline</a:t>
            </a:r>
          </a:p>
        </p:txBody>
      </p:sp>
      <p:sp>
        <p:nvSpPr>
          <p:cNvPr id="17525" name="Rounded Rectangle 17524"/>
          <p:cNvSpPr/>
          <p:nvPr/>
        </p:nvSpPr>
        <p:spPr>
          <a:xfrm>
            <a:off x="8606741" y="2954654"/>
            <a:ext cx="1141485" cy="585216"/>
          </a:xfrm>
          <a:prstGeom prst="roundRect">
            <a:avLst>
              <a:gd name="adj" fmla="val 30000"/>
            </a:avLst>
          </a:prstGeom>
          <a:solidFill>
            <a:srgbClr val="A7F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6" name="TextBox 17525"/>
          <p:cNvSpPr txBox="1"/>
          <p:nvPr/>
        </p:nvSpPr>
        <p:spPr>
          <a:xfrm>
            <a:off x="8698181" y="2972943"/>
            <a:ext cx="1004325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0">
                <a:solidFill>
                  <a:srgbClr val="064E3B"/>
                </a:solidFill>
                <a:latin typeface="Nirmala UI"/>
              </a:rPr>
              <a:t>हलो हलो</a:t>
            </a:r>
          </a:p>
        </p:txBody>
      </p:sp>
      <p:sp>
        <p:nvSpPr>
          <p:cNvPr id="17527" name="TextBox 17526"/>
          <p:cNvSpPr txBox="1"/>
          <p:nvPr/>
        </p:nvSpPr>
        <p:spPr>
          <a:xfrm>
            <a:off x="8698181" y="3265551"/>
            <a:ext cx="1004325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700" b="0" i="0">
                <a:solidFill>
                  <a:srgbClr val="047857"/>
                </a:solidFill>
                <a:latin typeface="Calibri"/>
              </a:rPr>
              <a:t>Hindi · STT 236 ms</a:t>
            </a:r>
          </a:p>
        </p:txBody>
      </p:sp>
      <p:sp>
        <p:nvSpPr>
          <p:cNvPr id="17528" name="Rounded Rectangle 17527"/>
          <p:cNvSpPr/>
          <p:nvPr/>
        </p:nvSpPr>
        <p:spPr>
          <a:xfrm>
            <a:off x="8350709" y="4703490"/>
            <a:ext cx="1397517" cy="25603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29" name="TextBox 17528"/>
          <p:cNvSpPr txBox="1"/>
          <p:nvPr/>
        </p:nvSpPr>
        <p:spPr>
          <a:xfrm>
            <a:off x="8423861" y="4703490"/>
            <a:ext cx="1269501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Or type a message</a:t>
            </a:r>
          </a:p>
        </p:txBody>
      </p:sp>
      <p:sp>
        <p:nvSpPr>
          <p:cNvPr id="17530" name="Oval 17529"/>
          <p:cNvSpPr/>
          <p:nvPr/>
        </p:nvSpPr>
        <p:spPr>
          <a:xfrm>
            <a:off x="9217875" y="5014386"/>
            <a:ext cx="512064" cy="512064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E9F6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31" name="Picture 17530" descr="mic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011" y="5147523"/>
            <a:ext cx="245790" cy="245790"/>
          </a:xfrm>
          <a:prstGeom prst="rect">
            <a:avLst/>
          </a:prstGeom>
        </p:spPr>
      </p:pic>
      <p:sp>
        <p:nvSpPr>
          <p:cNvPr id="17532" name="Rounded Rectangle 17531"/>
          <p:cNvSpPr/>
          <p:nvPr/>
        </p:nvSpPr>
        <p:spPr>
          <a:xfrm>
            <a:off x="8350709" y="5160690"/>
            <a:ext cx="713232" cy="2286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3" name="TextBox 17532"/>
          <p:cNvSpPr txBox="1"/>
          <p:nvPr/>
        </p:nvSpPr>
        <p:spPr>
          <a:xfrm>
            <a:off x="8350709" y="5160690"/>
            <a:ext cx="713232" cy="2286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00" b="0" i="0">
                <a:solidFill>
                  <a:srgbClr val="334155"/>
                </a:solidFill>
                <a:latin typeface="Calibri"/>
              </a:rPr>
              <a:t>PTT | Call</a:t>
            </a:r>
          </a:p>
        </p:txBody>
      </p:sp>
      <p:sp>
        <p:nvSpPr>
          <p:cNvPr id="17534" name="Rounded Rectangle 17533"/>
          <p:cNvSpPr/>
          <p:nvPr/>
        </p:nvSpPr>
        <p:spPr>
          <a:xfrm>
            <a:off x="10442448" y="1801368"/>
            <a:ext cx="132588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5" name="TextBox 17534"/>
          <p:cNvSpPr txBox="1"/>
          <p:nvPr/>
        </p:nvSpPr>
        <p:spPr>
          <a:xfrm>
            <a:off x="10442448" y="1837944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 i="0">
                <a:solidFill>
                  <a:srgbClr val="0F2744"/>
                </a:solidFill>
                <a:latin typeface="Calibri"/>
              </a:rPr>
              <a:t>644 ms</a:t>
            </a:r>
          </a:p>
        </p:txBody>
      </p:sp>
      <p:sp>
        <p:nvSpPr>
          <p:cNvPr id="17536" name="TextBox 17535"/>
          <p:cNvSpPr txBox="1"/>
          <p:nvPr/>
        </p:nvSpPr>
        <p:spPr>
          <a:xfrm>
            <a:off x="10488168" y="222199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STT model load</a:t>
            </a:r>
          </a:p>
        </p:txBody>
      </p:sp>
      <p:cxnSp>
        <p:nvCxnSpPr>
          <p:cNvPr id="17537" name="Connector 17536"/>
          <p:cNvCxnSpPr/>
          <p:nvPr/>
        </p:nvCxnSpPr>
        <p:spPr>
          <a:xfrm>
            <a:off x="10240004" y="2194560"/>
            <a:ext cx="165868" cy="0"/>
          </a:xfrm>
          <a:prstGeom prst="line">
            <a:avLst/>
          </a:prstGeom>
          <a:ln w="12700">
            <a:solidFill>
              <a:srgbClr val="9AA9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38" name="Rounded Rectangle 17537"/>
          <p:cNvSpPr/>
          <p:nvPr/>
        </p:nvSpPr>
        <p:spPr>
          <a:xfrm>
            <a:off x="10442448" y="2761488"/>
            <a:ext cx="132588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39" name="TextBox 17538"/>
          <p:cNvSpPr txBox="1"/>
          <p:nvPr/>
        </p:nvSpPr>
        <p:spPr>
          <a:xfrm>
            <a:off x="10442448" y="2798064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 i="0">
                <a:solidFill>
                  <a:srgbClr val="F97316"/>
                </a:solidFill>
                <a:latin typeface="Calibri"/>
              </a:rPr>
              <a:t>236 ms</a:t>
            </a:r>
          </a:p>
        </p:txBody>
      </p:sp>
      <p:sp>
        <p:nvSpPr>
          <p:cNvPr id="17540" name="TextBox 17539"/>
          <p:cNvSpPr txBox="1"/>
          <p:nvPr/>
        </p:nvSpPr>
        <p:spPr>
          <a:xfrm>
            <a:off x="10488168" y="318211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Hindi sentence decode</a:t>
            </a:r>
          </a:p>
        </p:txBody>
      </p:sp>
      <p:cxnSp>
        <p:nvCxnSpPr>
          <p:cNvPr id="17541" name="Connector 17540"/>
          <p:cNvCxnSpPr/>
          <p:nvPr/>
        </p:nvCxnSpPr>
        <p:spPr>
          <a:xfrm>
            <a:off x="10240004" y="3154679"/>
            <a:ext cx="165868" cy="0"/>
          </a:xfrm>
          <a:prstGeom prst="line">
            <a:avLst/>
          </a:prstGeom>
          <a:ln w="12700">
            <a:solidFill>
              <a:srgbClr val="9AA9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2" name="Rounded Rectangle 17541"/>
          <p:cNvSpPr/>
          <p:nvPr/>
        </p:nvSpPr>
        <p:spPr>
          <a:xfrm>
            <a:off x="10442448" y="3721608"/>
            <a:ext cx="132588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3" name="TextBox 17542"/>
          <p:cNvSpPr txBox="1"/>
          <p:nvPr/>
        </p:nvSpPr>
        <p:spPr>
          <a:xfrm>
            <a:off x="10442448" y="3758184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 i="0">
                <a:solidFill>
                  <a:srgbClr val="0F2744"/>
                </a:solidFill>
                <a:latin typeface="Calibri"/>
              </a:rPr>
              <a:t>654 ms</a:t>
            </a:r>
          </a:p>
        </p:txBody>
      </p:sp>
      <p:sp>
        <p:nvSpPr>
          <p:cNvPr id="17544" name="TextBox 17543"/>
          <p:cNvSpPr txBox="1"/>
          <p:nvPr/>
        </p:nvSpPr>
        <p:spPr>
          <a:xfrm>
            <a:off x="10488168" y="414223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TTS voice load</a:t>
            </a:r>
          </a:p>
        </p:txBody>
      </p:sp>
      <p:cxnSp>
        <p:nvCxnSpPr>
          <p:cNvPr id="17545" name="Connector 17544"/>
          <p:cNvCxnSpPr/>
          <p:nvPr/>
        </p:nvCxnSpPr>
        <p:spPr>
          <a:xfrm>
            <a:off x="10240004" y="4114800"/>
            <a:ext cx="165868" cy="0"/>
          </a:xfrm>
          <a:prstGeom prst="line">
            <a:avLst/>
          </a:prstGeom>
          <a:ln w="12700">
            <a:solidFill>
              <a:srgbClr val="9AA9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46" name="Rounded Rectangle 17545"/>
          <p:cNvSpPr/>
          <p:nvPr/>
        </p:nvSpPr>
        <p:spPr>
          <a:xfrm>
            <a:off x="10442448" y="4681728"/>
            <a:ext cx="1325880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47" name="TextBox 17546"/>
          <p:cNvSpPr txBox="1"/>
          <p:nvPr/>
        </p:nvSpPr>
        <p:spPr>
          <a:xfrm>
            <a:off x="10442448" y="4718304"/>
            <a:ext cx="1325880" cy="40233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800" b="1" i="0">
                <a:solidFill>
                  <a:srgbClr val="0E9F6E"/>
                </a:solidFill>
                <a:latin typeface="Calibri"/>
              </a:rPr>
              <a:t>10 / 10</a:t>
            </a:r>
          </a:p>
        </p:txBody>
      </p:sp>
      <p:sp>
        <p:nvSpPr>
          <p:cNvPr id="17548" name="TextBox 17547"/>
          <p:cNvSpPr txBox="1"/>
          <p:nvPr/>
        </p:nvSpPr>
        <p:spPr>
          <a:xfrm>
            <a:off x="10488168" y="5102352"/>
            <a:ext cx="123444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languages verified</a:t>
            </a:r>
          </a:p>
        </p:txBody>
      </p:sp>
      <p:cxnSp>
        <p:nvCxnSpPr>
          <p:cNvPr id="17549" name="Connector 17548"/>
          <p:cNvCxnSpPr/>
          <p:nvPr/>
        </p:nvCxnSpPr>
        <p:spPr>
          <a:xfrm>
            <a:off x="10240004" y="5074920"/>
            <a:ext cx="165868" cy="0"/>
          </a:xfrm>
          <a:prstGeom prst="line">
            <a:avLst/>
          </a:prstGeom>
          <a:ln w="12700">
            <a:solidFill>
              <a:srgbClr val="9AA9B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50" name="TextBox 17549"/>
          <p:cNvSpPr txBox="1"/>
          <p:nvPr/>
        </p:nvSpPr>
        <p:spPr>
          <a:xfrm>
            <a:off x="7635240" y="6144768"/>
            <a:ext cx="411480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App screen redrawn from the running build; timings measured on OnePlus CPH2717, Android 16.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7410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solidFill>
                  <a:srgbClr val="0F274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50" b="1">
                <a:solidFill>
                  <a:srgbClr val="0F2744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45720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32688" y="1170432"/>
            <a:ext cx="501091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572768"/>
            <a:ext cx="1755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585216" y="1682496"/>
            <a:ext cx="365760" cy="365760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" y="1770278"/>
            <a:ext cx="190195" cy="190195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024128" y="1645920"/>
            <a:ext cx="1152143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E9F6E"/>
                </a:solidFill>
                <a:latin typeface="Calibri"/>
              </a:rPr>
              <a:t>10 / 10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85216" y="210312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languages running fully offline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322576" y="1572768"/>
            <a:ext cx="1755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2450592" y="1682496"/>
            <a:ext cx="365760" cy="365760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2" name="Picture 17421" descr="storag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8374" y="1770278"/>
            <a:ext cx="190195" cy="190195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2889504" y="1645920"/>
            <a:ext cx="1152143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0F2744"/>
                </a:solidFill>
                <a:latin typeface="Calibri"/>
              </a:rPr>
              <a:t>~0.3 GB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450592" y="210312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per language: speech + voice packs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187952" y="1572768"/>
            <a:ext cx="1755648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6" name="Oval 17425"/>
          <p:cNvSpPr/>
          <p:nvPr/>
        </p:nvSpPr>
        <p:spPr>
          <a:xfrm>
            <a:off x="4315968" y="1682496"/>
            <a:ext cx="365760" cy="36576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7" name="Picture 17426" descr="memor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3750" y="1770278"/>
            <a:ext cx="190195" cy="190195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754880" y="1645920"/>
            <a:ext cx="1152143" cy="43891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97316"/>
                </a:solidFill>
                <a:latin typeface="Calibri"/>
              </a:rPr>
              <a:t>&lt;1.1 GB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315968" y="2103120"/>
            <a:ext cx="153619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peak RAM (est.) fits 3 GB phones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57200" y="2724912"/>
            <a:ext cx="5486400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7431" name="Chart 17430"/>
          <p:cNvGraphicFramePr>
            <a:graphicFrameLocks noGrp="1"/>
          </p:cNvGraphicFramePr>
          <p:nvPr/>
        </p:nvGraphicFramePr>
        <p:xfrm>
          <a:off x="566928" y="2788920"/>
          <a:ext cx="5266944" cy="2907792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7432" name="Rounded Rectangle 17431"/>
          <p:cNvSpPr/>
          <p:nvPr/>
        </p:nvSpPr>
        <p:spPr>
          <a:xfrm>
            <a:off x="685800" y="5760720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932688" y="5705856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≤5%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1554480" y="5760720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1E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5" name="TextBox 17434"/>
          <p:cNvSpPr txBox="1"/>
          <p:nvPr/>
        </p:nvSpPr>
        <p:spPr>
          <a:xfrm>
            <a:off x="1801368" y="5705856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5–10%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2423160" y="5760720"/>
            <a:ext cx="201168" cy="1280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2670048" y="5705856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334155"/>
                </a:solidFill>
                <a:latin typeface="Calibri"/>
              </a:rPr>
              <a:t>&gt;10%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246120" y="566928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Our TTS speaks a flood warning, our STT transcribes it back (sherpa-onnx, CPU). STT runs 5–20× faster than real time.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617220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647688" y="1170432"/>
            <a:ext cx="510235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50" b="1" i="0">
                <a:solidFill>
                  <a:srgbClr val="0F2744"/>
                </a:solidFill>
                <a:latin typeface="Calibri"/>
              </a:rPr>
              <a:t>Potential challenges and risks  →  Strategies to overcome them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172200" y="1572768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3" name="Rounded Rectangle 17442"/>
          <p:cNvSpPr/>
          <p:nvPr/>
        </p:nvSpPr>
        <p:spPr>
          <a:xfrm>
            <a:off x="6245352" y="1645920"/>
            <a:ext cx="2331720" cy="722375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4" name="Picture 17443" descr="route_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6792" y="1728216"/>
            <a:ext cx="274320" cy="27432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6684264" y="1682495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Short range per hop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355080" y="1993392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~60–100 m per Bluetooth hop</a:t>
            </a:r>
          </a:p>
        </p:txBody>
      </p:sp>
      <p:sp>
        <p:nvSpPr>
          <p:cNvPr id="17447" name="Oval 17446"/>
          <p:cNvSpPr/>
          <p:nvPr/>
        </p:nvSpPr>
        <p:spPr>
          <a:xfrm>
            <a:off x="8659368" y="1869948"/>
            <a:ext cx="274320" cy="27432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8" name="Picture 17447" descr="arrow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32" y="1924812"/>
            <a:ext cx="164592" cy="164592"/>
          </a:xfrm>
          <a:prstGeom prst="rect">
            <a:avLst/>
          </a:prstGeom>
        </p:spPr>
      </p:pic>
      <p:sp>
        <p:nvSpPr>
          <p:cNvPr id="17449" name="Rounded Rectangle 17448"/>
          <p:cNvSpPr/>
          <p:nvPr/>
        </p:nvSpPr>
        <p:spPr>
          <a:xfrm>
            <a:off x="9006840" y="1645920"/>
            <a:ext cx="2670047" cy="722375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0" name="Picture 17449" descr="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1888236"/>
            <a:ext cx="237744" cy="23774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409176" y="1664208"/>
            <a:ext cx="2194559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7-hop relay, BLE Coded PHY where supported, store-and-forward by moving phones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172200" y="2514600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Rounded Rectangle 17452"/>
          <p:cNvSpPr/>
          <p:nvPr/>
        </p:nvSpPr>
        <p:spPr>
          <a:xfrm>
            <a:off x="6245352" y="2587752"/>
            <a:ext cx="2331720" cy="722375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4" name="Picture 17453" descr="hearing_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6792" y="2670048"/>
            <a:ext cx="274320" cy="27432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6684264" y="2624328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Hard speech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355080" y="2935224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Noise, soft voices, Malayalam / Odia</a:t>
            </a:r>
          </a:p>
        </p:txBody>
      </p:sp>
      <p:sp>
        <p:nvSpPr>
          <p:cNvPr id="17457" name="Oval 17456"/>
          <p:cNvSpPr/>
          <p:nvPr/>
        </p:nvSpPr>
        <p:spPr>
          <a:xfrm>
            <a:off x="8659368" y="2811780"/>
            <a:ext cx="274320" cy="27432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8" name="Picture 17457" descr="arrow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32" y="2866644"/>
            <a:ext cx="164592" cy="164592"/>
          </a:xfrm>
          <a:prstGeom prst="rect">
            <a:avLst/>
          </a:prstGeom>
        </p:spPr>
      </p:pic>
      <p:sp>
        <p:nvSpPr>
          <p:cNvPr id="17459" name="Rounded Rectangle 17458"/>
          <p:cNvSpPr/>
          <p:nvPr/>
        </p:nvSpPr>
        <p:spPr>
          <a:xfrm>
            <a:off x="9006840" y="2587752"/>
            <a:ext cx="2670047" cy="722375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0" name="Picture 17459" descr="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2830068"/>
            <a:ext cx="237744" cy="237744"/>
          </a:xfrm>
          <a:prstGeom prst="rect">
            <a:avLst/>
          </a:prstGeom>
        </p:spPr>
      </p:pic>
      <p:sp>
        <p:nvSpPr>
          <p:cNvPr id="17461" name="TextBox 17460"/>
          <p:cNvSpPr txBox="1"/>
          <p:nvPr/>
        </p:nvSpPr>
        <p:spPr>
          <a:xfrm>
            <a:off x="9409176" y="2606040"/>
            <a:ext cx="2194559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Gain control + tuned VAD, distress hotword list, text shown with voice, real-speech test set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6172200" y="3456432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Rounded Rectangle 17462"/>
          <p:cNvSpPr/>
          <p:nvPr/>
        </p:nvSpPr>
        <p:spPr>
          <a:xfrm>
            <a:off x="6245352" y="3529584"/>
            <a:ext cx="2331720" cy="722375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4" name="Picture 17463" descr="battery_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6792" y="3611880"/>
            <a:ext cx="274320" cy="274320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6684264" y="356616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Low-end phones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6355080" y="3877056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RAM, battery drain, background kills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659368" y="3753611"/>
            <a:ext cx="274320" cy="27432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8" name="Picture 17467" descr="arrow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32" y="3808475"/>
            <a:ext cx="164592" cy="164592"/>
          </a:xfrm>
          <a:prstGeom prst="rect">
            <a:avLst/>
          </a:prstGeom>
        </p:spPr>
      </p:pic>
      <p:sp>
        <p:nvSpPr>
          <p:cNvPr id="17469" name="Rounded Rectangle 17468"/>
          <p:cNvSpPr/>
          <p:nvPr/>
        </p:nvSpPr>
        <p:spPr>
          <a:xfrm>
            <a:off x="9006840" y="3529584"/>
            <a:ext cx="2670047" cy="722375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0" name="Picture 17469" descr="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3771900"/>
            <a:ext cx="237744" cy="237744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9409176" y="3547872"/>
            <a:ext cx="2194559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int8 models, one language in RAM, duty-cycled scanning, foreground service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6172200" y="4398264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Rounded Rectangle 17472"/>
          <p:cNvSpPr/>
          <p:nvPr/>
        </p:nvSpPr>
        <p:spPr>
          <a:xfrm>
            <a:off x="6245352" y="4471416"/>
            <a:ext cx="2331720" cy="722375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4" name="Picture 17473" descr="shield_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6792" y="4553712"/>
            <a:ext cx="274320" cy="274320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6684264" y="4507992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Fake alerts, misuse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6355080" y="4818888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Spoofing; mesh apps flagged in India (Jul 2026)</a:t>
            </a:r>
          </a:p>
        </p:txBody>
      </p:sp>
      <p:sp>
        <p:nvSpPr>
          <p:cNvPr id="17477" name="Oval 17476"/>
          <p:cNvSpPr/>
          <p:nvPr/>
        </p:nvSpPr>
        <p:spPr>
          <a:xfrm>
            <a:off x="8659368" y="4695443"/>
            <a:ext cx="274320" cy="27432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8" name="Picture 17477" descr="arrow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32" y="4750307"/>
            <a:ext cx="164592" cy="164592"/>
          </a:xfrm>
          <a:prstGeom prst="rect">
            <a:avLst/>
          </a:prstGeom>
        </p:spPr>
      </p:pic>
      <p:sp>
        <p:nvSpPr>
          <p:cNvPr id="17479" name="Rounded Rectangle 17478"/>
          <p:cNvSpPr/>
          <p:nvPr/>
        </p:nvSpPr>
        <p:spPr>
          <a:xfrm>
            <a:off x="9006840" y="4471416"/>
            <a:ext cx="2670047" cy="722375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0" name="Picture 17479" descr="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4713731"/>
            <a:ext cx="237744" cy="237744"/>
          </a:xfrm>
          <a:prstGeom prst="rect">
            <a:avLst/>
          </a:prstGeom>
        </p:spPr>
      </p:pic>
      <p:sp>
        <p:nvSpPr>
          <p:cNvPr id="17481" name="TextBox 17480"/>
          <p:cNvSpPr txBox="1"/>
          <p:nvPr/>
        </p:nvSpPr>
        <p:spPr>
          <a:xfrm>
            <a:off x="9409176" y="4489703"/>
            <a:ext cx="2194559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Ed25519-signed packets, verified NDMA / ISRO key, positioned as authenticated alert tool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6172200" y="5340096"/>
            <a:ext cx="55778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3" name="Rounded Rectangle 17482"/>
          <p:cNvSpPr/>
          <p:nvPr/>
        </p:nvSpPr>
        <p:spPr>
          <a:xfrm>
            <a:off x="6245352" y="5413248"/>
            <a:ext cx="2331720" cy="722375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4" name="Picture 17483" descr="book_o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6792" y="5495544"/>
            <a:ext cx="274320" cy="274320"/>
          </a:xfrm>
          <a:prstGeom prst="rect">
            <a:avLst/>
          </a:prstGeom>
        </p:spPr>
      </p:pic>
      <p:sp>
        <p:nvSpPr>
          <p:cNvPr id="17485" name="TextBox 17484"/>
          <p:cNvSpPr txBox="1"/>
          <p:nvPr/>
        </p:nvSpPr>
        <p:spPr>
          <a:xfrm>
            <a:off x="6684264" y="5449824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100" b="1" i="0">
                <a:solidFill>
                  <a:srgbClr val="0F2744"/>
                </a:solidFill>
                <a:latin typeface="Calibri"/>
              </a:rPr>
              <a:t>Voice licence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6355080" y="5760720"/>
            <a:ext cx="215798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MMS-TTS is non-commercial</a:t>
            </a:r>
          </a:p>
        </p:txBody>
      </p:sp>
      <p:sp>
        <p:nvSpPr>
          <p:cNvPr id="17487" name="Oval 17486"/>
          <p:cNvSpPr/>
          <p:nvPr/>
        </p:nvSpPr>
        <p:spPr>
          <a:xfrm>
            <a:off x="8659368" y="5637275"/>
            <a:ext cx="274320" cy="274320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8" name="Picture 17487" descr="arrow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32" y="5692139"/>
            <a:ext cx="164592" cy="164592"/>
          </a:xfrm>
          <a:prstGeom prst="rect">
            <a:avLst/>
          </a:prstGeom>
        </p:spPr>
      </p:pic>
      <p:sp>
        <p:nvSpPr>
          <p:cNvPr id="17489" name="Rounded Rectangle 17488"/>
          <p:cNvSpPr/>
          <p:nvPr/>
        </p:nvSpPr>
        <p:spPr>
          <a:xfrm>
            <a:off x="9006840" y="5413248"/>
            <a:ext cx="2670047" cy="722375"/>
          </a:xfrm>
          <a:prstGeom prst="roundRect">
            <a:avLst>
              <a:gd name="adj" fmla="val 1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0" name="Picture 17489" descr="check_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0" y="5655564"/>
            <a:ext cx="237744" cy="237744"/>
          </a:xfrm>
          <a:prstGeom prst="rect">
            <a:avLst/>
          </a:prstGeom>
        </p:spPr>
      </p:pic>
      <p:sp>
        <p:nvSpPr>
          <p:cNvPr id="17491" name="TextBox 17490"/>
          <p:cNvSpPr txBox="1"/>
          <p:nvPr/>
        </p:nvSpPr>
        <p:spPr>
          <a:xfrm>
            <a:off x="9409176" y="5431536"/>
            <a:ext cx="2194559" cy="6858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Swap to CC-BY voices trained on SYSPIN / IndicVoices-R before deployment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7410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solidFill>
                  <a:srgbClr val="0F274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50" b="1">
                <a:solidFill>
                  <a:srgbClr val="0F2744"/>
                </a:solidFill>
              </a:rPr>
              <a:t>Hexabits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457200" y="1188720"/>
            <a:ext cx="273634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Oval 17412"/>
          <p:cNvSpPr/>
          <p:nvPr/>
        </p:nvSpPr>
        <p:spPr>
          <a:xfrm>
            <a:off x="685800" y="1463039"/>
            <a:ext cx="548640" cy="548640"/>
          </a:xfrm>
          <a:prstGeom prst="ellipse">
            <a:avLst/>
          </a:prstGeom>
          <a:noFill/>
          <a:ln w="9525">
            <a:solidFill>
              <a:srgbClr val="F97316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Oval 17413"/>
          <p:cNvSpPr/>
          <p:nvPr/>
        </p:nvSpPr>
        <p:spPr>
          <a:xfrm>
            <a:off x="557784" y="1335024"/>
            <a:ext cx="804672" cy="804672"/>
          </a:xfrm>
          <a:prstGeom prst="ellipse">
            <a:avLst/>
          </a:prstGeom>
          <a:noFill/>
          <a:ln w="9525">
            <a:solidFill>
              <a:srgbClr val="F97316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Oval 17414"/>
          <p:cNvSpPr/>
          <p:nvPr/>
        </p:nvSpPr>
        <p:spPr>
          <a:xfrm>
            <a:off x="758952" y="1536192"/>
            <a:ext cx="402336" cy="402336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6" name="Picture 17415" descr="lan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512" y="1632752"/>
            <a:ext cx="209214" cy="209214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1371600" y="1243584"/>
            <a:ext cx="1776222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800" b="1" i="0">
                <a:solidFill>
                  <a:srgbClr val="F97316"/>
                </a:solidFill>
                <a:latin typeface="Calibri"/>
              </a:rPr>
              <a:t>85%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371600" y="1737360"/>
            <a:ext cx="173050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of Indians speak one of our 10 languages as mother tongue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371600" y="2066543"/>
            <a:ext cx="173050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Census 2011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03270" y="1188720"/>
            <a:ext cx="273634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Oval 17420"/>
          <p:cNvSpPr/>
          <p:nvPr/>
        </p:nvSpPr>
        <p:spPr>
          <a:xfrm>
            <a:off x="3531870" y="1463039"/>
            <a:ext cx="548640" cy="548640"/>
          </a:xfrm>
          <a:prstGeom prst="ellipse">
            <a:avLst/>
          </a:prstGeom>
          <a:noFill/>
          <a:ln w="9525">
            <a:solidFill>
              <a:srgbClr val="1E4A8A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Oval 17421"/>
          <p:cNvSpPr/>
          <p:nvPr/>
        </p:nvSpPr>
        <p:spPr>
          <a:xfrm>
            <a:off x="3403854" y="1335024"/>
            <a:ext cx="804672" cy="804672"/>
          </a:xfrm>
          <a:prstGeom prst="ellipse">
            <a:avLst/>
          </a:prstGeom>
          <a:noFill/>
          <a:ln w="9525">
            <a:solidFill>
              <a:srgbClr val="1E4A8A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Oval 17422"/>
          <p:cNvSpPr/>
          <p:nvPr/>
        </p:nvSpPr>
        <p:spPr>
          <a:xfrm>
            <a:off x="3605022" y="1536192"/>
            <a:ext cx="402336" cy="402336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24" name="Picture 17423" descr="hearing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1582" y="1632752"/>
            <a:ext cx="209214" cy="20921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4217670" y="1243584"/>
            <a:ext cx="1776222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800" b="1" i="0">
                <a:solidFill>
                  <a:srgbClr val="1E4A8A"/>
                </a:solidFill>
                <a:latin typeface="Calibri"/>
              </a:rPr>
              <a:t>~26%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217670" y="1737360"/>
            <a:ext cx="173050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of Indians aged 7+ cannot read: voice still reaches them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217670" y="2066543"/>
            <a:ext cx="173050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Census 2011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49340" y="1188720"/>
            <a:ext cx="273634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Oval 17428"/>
          <p:cNvSpPr/>
          <p:nvPr/>
        </p:nvSpPr>
        <p:spPr>
          <a:xfrm>
            <a:off x="6377940" y="1463039"/>
            <a:ext cx="548640" cy="548640"/>
          </a:xfrm>
          <a:prstGeom prst="ellipse">
            <a:avLst/>
          </a:prstGeom>
          <a:noFill/>
          <a:ln w="9525">
            <a:solidFill>
              <a:srgbClr val="0E9F6E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Oval 17429"/>
          <p:cNvSpPr/>
          <p:nvPr/>
        </p:nvSpPr>
        <p:spPr>
          <a:xfrm>
            <a:off x="6249924" y="1335024"/>
            <a:ext cx="804672" cy="804672"/>
          </a:xfrm>
          <a:prstGeom prst="ellipse">
            <a:avLst/>
          </a:prstGeom>
          <a:noFill/>
          <a:ln w="9525">
            <a:solidFill>
              <a:srgbClr val="0E9F6E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Oval 17430"/>
          <p:cNvSpPr/>
          <p:nvPr/>
        </p:nvSpPr>
        <p:spPr>
          <a:xfrm>
            <a:off x="6451092" y="1536192"/>
            <a:ext cx="402336" cy="402336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2" name="Picture 17431" descr="offli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652" y="1632752"/>
            <a:ext cx="209214" cy="209214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7063740" y="1243584"/>
            <a:ext cx="1776222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800" b="1" i="0">
                <a:solidFill>
                  <a:srgbClr val="0E9F6E"/>
                </a:solidFill>
                <a:latin typeface="Calibri"/>
              </a:rPr>
              <a:t>0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7063740" y="1737360"/>
            <a:ext cx="173050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towers, internet, SIM cards or servers needed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063740" y="2066543"/>
            <a:ext cx="173050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fully offline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995410" y="1188720"/>
            <a:ext cx="2736342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Oval 17436"/>
          <p:cNvSpPr/>
          <p:nvPr/>
        </p:nvSpPr>
        <p:spPr>
          <a:xfrm>
            <a:off x="9224010" y="1463039"/>
            <a:ext cx="548640" cy="548640"/>
          </a:xfrm>
          <a:prstGeom prst="ellipse">
            <a:avLst/>
          </a:prstGeom>
          <a:noFill/>
          <a:ln w="9525">
            <a:solidFill>
              <a:srgbClr val="0284C7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Oval 17437"/>
          <p:cNvSpPr/>
          <p:nvPr/>
        </p:nvSpPr>
        <p:spPr>
          <a:xfrm>
            <a:off x="9095994" y="1335024"/>
            <a:ext cx="804672" cy="804672"/>
          </a:xfrm>
          <a:prstGeom prst="ellipse">
            <a:avLst/>
          </a:prstGeom>
          <a:noFill/>
          <a:ln w="9525">
            <a:solidFill>
              <a:srgbClr val="0284C7">
                <a:alpha val="1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9" name="Oval 17438"/>
          <p:cNvSpPr/>
          <p:nvPr/>
        </p:nvSpPr>
        <p:spPr>
          <a:xfrm>
            <a:off x="9297162" y="1536192"/>
            <a:ext cx="402336" cy="402336"/>
          </a:xfrm>
          <a:prstGeom prst="ellipse">
            <a:avLst/>
          </a:prstGeom>
          <a:gradFill rotWithShape="1">
            <a:gsLst>
              <a:gs pos="0">
                <a:srgbClr val="38BDF8"/>
              </a:gs>
              <a:gs pos="100000">
                <a:srgbClr val="0284C7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0" name="Picture 17439" descr="rupe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3722" y="1632752"/>
            <a:ext cx="209214" cy="20921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9909810" y="1243584"/>
            <a:ext cx="1776222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800" b="1" i="0">
                <a:solidFill>
                  <a:srgbClr val="0284C7"/>
                </a:solidFill>
                <a:latin typeface="Calibri"/>
              </a:rPr>
              <a:t>₹0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9909810" y="1737360"/>
            <a:ext cx="1730502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00" b="0" i="0">
                <a:solidFill>
                  <a:srgbClr val="334155"/>
                </a:solidFill>
                <a:latin typeface="Calibri"/>
              </a:rPr>
              <a:t>data cost per message, on phones people already own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909810" y="2066543"/>
            <a:ext cx="1730502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no data plan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57200" y="2468880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457200" y="2468880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32688" y="2432304"/>
            <a:ext cx="491947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Potential impact on the target audience</a:t>
            </a:r>
          </a:p>
        </p:txBody>
      </p:sp>
      <p:pic>
        <p:nvPicPr>
          <p:cNvPr id="17447" name="Picture 17446" descr="v2_impact_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2834640"/>
            <a:ext cx="5440680" cy="3604484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4328769" y="3123078"/>
            <a:ext cx="102047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4328769" y="3123078"/>
            <a:ext cx="102047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0F2744"/>
                </a:solidFill>
                <a:latin typeface="Calibri"/>
              </a:rPr>
              <a:t>Relief camps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737920" y="3555737"/>
            <a:ext cx="126918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1" name="TextBox 17450"/>
          <p:cNvSpPr txBox="1"/>
          <p:nvPr/>
        </p:nvSpPr>
        <p:spPr>
          <a:xfrm>
            <a:off x="737920" y="3555737"/>
            <a:ext cx="1269187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0F2744"/>
                </a:solidFill>
                <a:latin typeface="Calibri"/>
              </a:rPr>
              <a:t>Flooded villages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1390802" y="5610865"/>
            <a:ext cx="17666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1390802" y="5610865"/>
            <a:ext cx="176662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00" b="1" i="0">
                <a:solidFill>
                  <a:srgbClr val="0F2744"/>
                </a:solidFill>
                <a:latin typeface="Calibri"/>
              </a:rPr>
              <a:t>NDRF / SDRF rescue teams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172200" y="2468880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6172200" y="2468880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647688" y="2432304"/>
            <a:ext cx="5084064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6172200" y="2834640"/>
            <a:ext cx="2715768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Oval 17457"/>
          <p:cNvSpPr/>
          <p:nvPr/>
        </p:nvSpPr>
        <p:spPr>
          <a:xfrm>
            <a:off x="6318504" y="2980944"/>
            <a:ext cx="475488" cy="475488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F9731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9" name="Picture 17458" descr="acces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2621" y="3095061"/>
            <a:ext cx="247253" cy="247253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6903720" y="2980944"/>
            <a:ext cx="1892808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0F2744"/>
                </a:solidFill>
                <a:latin typeface="Calibri"/>
              </a:rPr>
              <a:t>Social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6336792" y="3511296"/>
            <a:ext cx="242316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Voice in 10 languages for non-literate, elderly and visually impaired people; no typing.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9015984" y="2834640"/>
            <a:ext cx="2715768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3" name="Oval 17462"/>
          <p:cNvSpPr/>
          <p:nvPr/>
        </p:nvSpPr>
        <p:spPr>
          <a:xfrm>
            <a:off x="9162288" y="2980944"/>
            <a:ext cx="475488" cy="475488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E9F6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4" name="Picture 17463" descr="rupe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405" y="3095061"/>
            <a:ext cx="247253" cy="247253"/>
          </a:xfrm>
          <a:prstGeom prst="rect">
            <a:avLst/>
          </a:prstGeom>
        </p:spPr>
      </p:pic>
      <p:sp>
        <p:nvSpPr>
          <p:cNvPr id="17465" name="TextBox 17464"/>
          <p:cNvSpPr txBox="1"/>
          <p:nvPr/>
        </p:nvSpPr>
        <p:spPr>
          <a:xfrm>
            <a:off x="9747504" y="2980944"/>
            <a:ext cx="1892808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0F2744"/>
                </a:solidFill>
                <a:latin typeface="Calibri"/>
              </a:rPr>
              <a:t>Economic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9180576" y="3511296"/>
            <a:ext cx="242316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Runs on existing low-cost phones; zero infrastructure, data or SMS cost; open models.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6172200" y="4169664"/>
            <a:ext cx="2715768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8" name="Oval 17467"/>
          <p:cNvSpPr/>
          <p:nvPr/>
        </p:nvSpPr>
        <p:spPr>
          <a:xfrm>
            <a:off x="6318504" y="4315968"/>
            <a:ext cx="475488" cy="475488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E9F6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9" name="Picture 17468" descr="eco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2621" y="4430085"/>
            <a:ext cx="247253" cy="247253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6903720" y="4315968"/>
            <a:ext cx="1892808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0F2744"/>
                </a:solidFill>
                <a:latin typeface="Calibri"/>
              </a:rPr>
              <a:t>Environmental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6336792" y="4846320"/>
            <a:ext cx="242316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No diesel towers or generators; low-power Bluetooth saves battery in long outages.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9015984" y="4169664"/>
            <a:ext cx="2715768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Oval 17472"/>
          <p:cNvSpPr/>
          <p:nvPr/>
        </p:nvSpPr>
        <p:spPr>
          <a:xfrm>
            <a:off x="9162288" y="4315968"/>
            <a:ext cx="475488" cy="475488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F274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4" name="Picture 17473" descr="satellite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76405" y="4430085"/>
            <a:ext cx="247253" cy="247253"/>
          </a:xfrm>
          <a:prstGeom prst="rect">
            <a:avLst/>
          </a:prstGeom>
        </p:spPr>
      </p:pic>
      <p:sp>
        <p:nvSpPr>
          <p:cNvPr id="17475" name="TextBox 17474"/>
          <p:cNvSpPr txBox="1"/>
          <p:nvPr/>
        </p:nvSpPr>
        <p:spPr>
          <a:xfrm>
            <a:off x="9747504" y="4315968"/>
            <a:ext cx="1892808" cy="47548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00" b="1" i="0">
                <a:solidFill>
                  <a:srgbClr val="0F2744"/>
                </a:solidFill>
                <a:latin typeface="Calibri"/>
              </a:rPr>
              <a:t>Strategic (ISRO)</a:t>
            </a:r>
          </a:p>
        </p:txBody>
      </p:sp>
      <p:sp>
        <p:nvSpPr>
          <p:cNvPr id="17476" name="TextBox 17475"/>
          <p:cNvSpPr txBox="1"/>
          <p:nvPr/>
        </p:nvSpPr>
        <p:spPr>
          <a:xfrm>
            <a:off x="9180576" y="4846320"/>
            <a:ext cx="2423160" cy="49377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950" b="0" i="0">
                <a:solidFill>
                  <a:srgbClr val="334155"/>
                </a:solidFill>
                <a:latin typeface="Calibri"/>
              </a:rPr>
              <a:t>Byte-sized frames suit NavIC messaging and LoRa links; data stays on Indian devices.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6172200" y="5504688"/>
            <a:ext cx="5559552" cy="749808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78" name="Picture 17477" descr="rocket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6792" y="5733288"/>
            <a:ext cx="292608" cy="292608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6739128" y="5504688"/>
            <a:ext cx="4873752" cy="74980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000" b="1" i="0">
                <a:solidFill>
                  <a:srgbClr val="FBA54A"/>
                </a:solidFill>
                <a:latin typeface="Calibri"/>
              </a:rPr>
              <a:t>NEXT  </a:t>
            </a:r>
            <a:r>
              <a:rPr sz="1000" b="0" i="0">
                <a:solidFill>
                  <a:srgbClr val="FFFFFF"/>
                </a:solidFill>
                <a:latin typeface="Calibri"/>
              </a:rPr>
              <a:t>"heard by N phones" receipts  •  SMS gateway on signal  •  voice-preserving prosody  •  10-phone field trial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17410" descr="v2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dirty="0">
                <a:solidFill>
                  <a:srgbClr val="0F2744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250" b="1">
                <a:solidFill>
                  <a:srgbClr val="0F2744"/>
                </a:solidFill>
              </a:rPr>
              <a:t>Hexabits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457200" y="1207008"/>
            <a:ext cx="384048" cy="2743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57200" y="1207008"/>
            <a:ext cx="384048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32688" y="1170432"/>
            <a:ext cx="10771632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50" b="1" i="0">
                <a:solidFill>
                  <a:srgbClr val="0F2744"/>
                </a:solidFill>
                <a:latin typeface="Calibri"/>
              </a:rPr>
              <a:t>Details / Links of the reference and research work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57200" y="1572768"/>
            <a:ext cx="3666744" cy="3401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Oval 17415"/>
          <p:cNvSpPr/>
          <p:nvPr/>
        </p:nvSpPr>
        <p:spPr>
          <a:xfrm>
            <a:off x="621792" y="1700784"/>
            <a:ext cx="420624" cy="420624"/>
          </a:xfrm>
          <a:prstGeom prst="ellipse">
            <a:avLst/>
          </a:prstGeom>
          <a:gradFill rotWithShape="1">
            <a:gsLst>
              <a:gs pos="0">
                <a:srgbClr val="1E4A8A"/>
              </a:gs>
              <a:gs pos="100000">
                <a:srgbClr val="0F2744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F2744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17" name="Picture 17416" descr="lay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1" y="1801733"/>
            <a:ext cx="218724" cy="218724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152144" y="1700784"/>
            <a:ext cx="284378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50" b="1" i="0">
                <a:solidFill>
                  <a:srgbClr val="0F2744"/>
                </a:solidFill>
                <a:latin typeface="Calibri"/>
              </a:rPr>
              <a:t>Foundation models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640080" y="2249424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AI4Bharat IndicConformer ASR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17366" y="2267712"/>
            <a:ext cx="341985" cy="20116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3617366" y="2267712"/>
            <a:ext cx="341985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MIT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40080" y="2487168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6"/>
              </a:rPr>
              <a:t>github.com/AI4Bharat/IndicConformerASR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40080" y="2788920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sherpa-onnx offline runtime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3246119" y="280720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3246119" y="2807208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Apache-2.0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080" y="3026663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7"/>
              </a:rPr>
              <a:t>github.com/k2-fsa/sherpa-onnx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40080" y="3328415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Meta MMS-TTS voices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564331" y="3346703"/>
            <a:ext cx="395020" cy="20116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3564331" y="3346703"/>
            <a:ext cx="39502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VITS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40080" y="3566159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8"/>
              </a:rPr>
              <a:t>huggingface.co/facebook/mms-tts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40080" y="3867912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Silero VAD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17366" y="3886200"/>
            <a:ext cx="341985" cy="20116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3617366" y="3886200"/>
            <a:ext cx="341985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MIT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40080" y="4105656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9"/>
              </a:rPr>
              <a:t>github.com/snakers4/silero-vad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40080" y="4407408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IndicConformer sherpa int8 exports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670401" y="4425696"/>
            <a:ext cx="288950" cy="20116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3670401" y="4425696"/>
            <a:ext cx="28895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1E4A8A"/>
                </a:solidFill>
                <a:latin typeface="Calibri"/>
              </a:rPr>
              <a:t>HF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40080" y="4645152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0"/>
              </a:rPr>
              <a:t>huggingface.co/.../indicconformer-sherpa-onnx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261104" y="1572768"/>
            <a:ext cx="3666744" cy="3401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Oval 17439"/>
          <p:cNvSpPr/>
          <p:nvPr/>
        </p:nvSpPr>
        <p:spPr>
          <a:xfrm>
            <a:off x="4425696" y="1700784"/>
            <a:ext cx="420624" cy="420624"/>
          </a:xfrm>
          <a:prstGeom prst="ellipse">
            <a:avLst/>
          </a:prstGeom>
          <a:gradFill rotWithShape="1">
            <a:gsLst>
              <a:gs pos="0">
                <a:srgbClr val="FBA54A"/>
              </a:gs>
              <a:gs pos="100000">
                <a:srgbClr val="F97316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F97316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1" name="Picture 17440" descr="scienc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6645" y="1801733"/>
            <a:ext cx="218724" cy="218724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4956048" y="1700784"/>
            <a:ext cx="284378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50" b="1" i="0">
                <a:solidFill>
                  <a:srgbClr val="0F2744"/>
                </a:solidFill>
                <a:latin typeface="Calibri"/>
              </a:rPr>
              <a:t>Academic literature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443984" y="2249424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IndicVoices: Indian speech dataset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156094" y="2267712"/>
            <a:ext cx="607161" cy="20116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5" name="TextBox 17444"/>
          <p:cNvSpPr txBox="1"/>
          <p:nvPr/>
        </p:nvSpPr>
        <p:spPr>
          <a:xfrm>
            <a:off x="7156094" y="2267712"/>
            <a:ext cx="607161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F97316"/>
                </a:solidFill>
                <a:latin typeface="Calibri"/>
              </a:rPr>
              <a:t>ACL 2024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443984" y="2487168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2"/>
              </a:rPr>
              <a:t>arxiv.org/abs/2403.01926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443984" y="2788920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STCTS: speech at 80 bps (text + prosody)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7050024" y="280720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7050024" y="2807208"/>
            <a:ext cx="713232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F97316"/>
                </a:solidFill>
                <a:latin typeface="Calibri"/>
              </a:rPr>
              <a:t>arXiv 2025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443984" y="3026663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3"/>
              </a:rPr>
              <a:t>arxiv.org/abs/2512.00451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4443984" y="3328415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IndicVoices-R: Indian TTS corpus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6943953" y="3346703"/>
            <a:ext cx="819302" cy="20116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3" name="TextBox 17452"/>
          <p:cNvSpPr txBox="1"/>
          <p:nvPr/>
        </p:nvSpPr>
        <p:spPr>
          <a:xfrm>
            <a:off x="6943953" y="3346703"/>
            <a:ext cx="819302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F97316"/>
                </a:solidFill>
                <a:latin typeface="Calibri"/>
              </a:rPr>
              <a:t>NeurIPS 2024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443984" y="3566159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4"/>
              </a:rPr>
              <a:t>github.com/AI4Bharat/IndicVoices-R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443984" y="3867912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SYSPIN open Indian TTS dataset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7368235" y="3886200"/>
            <a:ext cx="395020" cy="20116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7368235" y="3886200"/>
            <a:ext cx="39502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F97316"/>
                </a:solidFill>
                <a:latin typeface="Calibri"/>
              </a:rPr>
              <a:t>IISc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4443984" y="4105656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5"/>
              </a:rPr>
              <a:t>vaani.iisc.ac.in/dataset/syspindataset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443984" y="4407408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BitChat mesh protocol whitepaper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368235" y="4425696"/>
            <a:ext cx="395020" cy="201168"/>
          </a:xfrm>
          <a:prstGeom prst="roundRect">
            <a:avLst>
              <a:gd name="adj" fmla="val 50000"/>
            </a:avLst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1" name="TextBox 17460"/>
          <p:cNvSpPr txBox="1"/>
          <p:nvPr/>
        </p:nvSpPr>
        <p:spPr>
          <a:xfrm>
            <a:off x="7368235" y="4425696"/>
            <a:ext cx="39502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F97316"/>
                </a:solidFill>
                <a:latin typeface="Calibri"/>
              </a:rPr>
              <a:t>Open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4443984" y="4645152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6"/>
              </a:rPr>
              <a:t>github.com/permissionlesstech/bitchat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8065008" y="1572768"/>
            <a:ext cx="3666744" cy="3401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Oval 17463"/>
          <p:cNvSpPr/>
          <p:nvPr/>
        </p:nvSpPr>
        <p:spPr>
          <a:xfrm>
            <a:off x="8229600" y="1700784"/>
            <a:ext cx="420624" cy="420624"/>
          </a:xfrm>
          <a:prstGeom prst="ellipse">
            <a:avLst/>
          </a:prstGeom>
          <a:gradFill rotWithShape="1">
            <a:gsLst>
              <a:gs pos="0">
                <a:srgbClr val="34D399"/>
              </a:gs>
              <a:gs pos="100000">
                <a:srgbClr val="0E9F6E"/>
              </a:gs>
            </a:gsLst>
            <a:lin scaled="0" ang="18900000"/>
          </a:gradFill>
          <a:ln>
            <a:noFill/>
          </a:ln>
          <a:effectLst>
            <a:outerShdw blurRad="127000" dist="25400" dir="5400000" algn="t" rotWithShape="0">
              <a:srgbClr val="0E9F6E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65" name="Picture 17464" descr="public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0549" y="1801733"/>
            <a:ext cx="218724" cy="218724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8759952" y="1700784"/>
            <a:ext cx="2843784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350" b="1" i="0">
                <a:solidFill>
                  <a:srgbClr val="0F2744"/>
                </a:solidFill>
                <a:latin typeface="Calibri"/>
              </a:rPr>
              <a:t>Field precedents &amp; data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8247888" y="2249424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FireChat mesh, Hong Kong 2014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10694822" y="2267712"/>
            <a:ext cx="872337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9" name="TextBox 17468"/>
          <p:cNvSpPr txBox="1"/>
          <p:nvPr/>
        </p:nvSpPr>
        <p:spPr>
          <a:xfrm>
            <a:off x="10694822" y="2267712"/>
            <a:ext cx="872337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500k installs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247888" y="2487168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8"/>
              </a:rPr>
              <a:t>en.wikipedia.org/wiki/FireChat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8247888" y="2788920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BitChat in Nepal 2025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10747857" y="2807208"/>
            <a:ext cx="819302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3" name="TextBox 17472"/>
          <p:cNvSpPr txBox="1"/>
          <p:nvPr/>
        </p:nvSpPr>
        <p:spPr>
          <a:xfrm>
            <a:off x="10747857" y="2807208"/>
            <a:ext cx="819302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48,781 / day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247888" y="3026663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19"/>
              </a:rPr>
              <a:t>forbes.com/sites/digital-assets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247888" y="3328415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Bridgefy mesh adds E2E encryption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10588752" y="3346703"/>
            <a:ext cx="978408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77" name="TextBox 17476"/>
          <p:cNvSpPr txBox="1"/>
          <p:nvPr/>
        </p:nvSpPr>
        <p:spPr>
          <a:xfrm>
            <a:off x="10588752" y="3346703"/>
            <a:ext cx="978408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TechCrunch 2020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247888" y="3566159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0"/>
              </a:rPr>
              <a:t>techcrunch.com/2020/11/02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8247888" y="3867912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Census of India 2011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10429646" y="3886200"/>
            <a:ext cx="1137513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1" name="TextBox 17480"/>
          <p:cNvSpPr txBox="1"/>
          <p:nvPr/>
        </p:nvSpPr>
        <p:spPr>
          <a:xfrm>
            <a:off x="10429646" y="3886200"/>
            <a:ext cx="1137513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Language, literacy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8247888" y="4105656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1"/>
              </a:rPr>
              <a:t>censusindia.gov.in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8247888" y="4407408"/>
            <a:ext cx="2340863" cy="23774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950" b="1" i="0">
                <a:solidFill>
                  <a:srgbClr val="334155"/>
                </a:solidFill>
                <a:latin typeface="Calibri"/>
              </a:rPr>
              <a:t>NDMA disaster management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10641787" y="4425696"/>
            <a:ext cx="925372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85" name="TextBox 17484"/>
          <p:cNvSpPr txBox="1"/>
          <p:nvPr/>
        </p:nvSpPr>
        <p:spPr>
          <a:xfrm>
            <a:off x="10641787" y="4425696"/>
            <a:ext cx="925372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750" b="1" i="0">
                <a:solidFill>
                  <a:srgbClr val="0E9F6E"/>
                </a:solidFill>
                <a:latin typeface="Calibri"/>
              </a:rPr>
              <a:t>Govt. of India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247888" y="4645152"/>
            <a:ext cx="3300984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2"/>
              </a:rPr>
              <a:t>ndma.gov.in</a:t>
            </a:r>
          </a:p>
        </p:txBody>
      </p:sp>
      <p:sp>
        <p:nvSpPr>
          <p:cNvPr id="17487" name="Rounded Rectangle 17486"/>
          <p:cNvSpPr/>
          <p:nvPr/>
        </p:nvSpPr>
        <p:spPr>
          <a:xfrm>
            <a:off x="457200" y="5102352"/>
            <a:ext cx="11274552" cy="1152144"/>
          </a:xfrm>
          <a:prstGeom prst="roundRect">
            <a:avLst>
              <a:gd name="adj" fmla="val 14000"/>
            </a:avLst>
          </a:prstGeom>
          <a:gradFill rotWithShape="1">
            <a:gsLst>
              <a:gs pos="0">
                <a:srgbClr val="F5F9FF"/>
              </a:gs>
              <a:gs pos="100000">
                <a:srgbClr val="FFF7F0"/>
              </a:gs>
            </a:gsLst>
            <a:lin scaled="0" ang="0"/>
          </a:gradFill>
          <a:ln>
            <a:noFill/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88" name="Picture 17487" descr="logo-itantra-v1-20260930-170705-transparen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928" y="5193792"/>
            <a:ext cx="969264" cy="969264"/>
          </a:xfrm>
          <a:prstGeom prst="rect">
            <a:avLst/>
          </a:prstGeom>
        </p:spPr>
      </p:pic>
      <p:sp>
        <p:nvSpPr>
          <p:cNvPr id="17489" name="TextBox 17488"/>
          <p:cNvSpPr txBox="1"/>
          <p:nvPr/>
        </p:nvSpPr>
        <p:spPr>
          <a:xfrm>
            <a:off x="1645920" y="5212080"/>
            <a:ext cx="402336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1" i="0">
                <a:solidFill>
                  <a:srgbClr val="0F2744"/>
                </a:solidFill>
                <a:latin typeface="Calibri"/>
              </a:rPr>
              <a:t>Built, verified and open source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1645920" y="5614416"/>
            <a:ext cx="121980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1" name="TextBox 17490"/>
          <p:cNvSpPr txBox="1"/>
          <p:nvPr/>
        </p:nvSpPr>
        <p:spPr>
          <a:xfrm>
            <a:off x="1645920" y="5614416"/>
            <a:ext cx="1219809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Android prototype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2957169" y="5614416"/>
            <a:ext cx="121980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3" name="TextBox 17492"/>
          <p:cNvSpPr txBox="1"/>
          <p:nvPr/>
        </p:nvSpPr>
        <p:spPr>
          <a:xfrm>
            <a:off x="2957169" y="5614416"/>
            <a:ext cx="1219809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20 language packs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4268419" y="5614416"/>
            <a:ext cx="116311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95" name="TextBox 17494"/>
          <p:cNvSpPr txBox="1"/>
          <p:nvPr/>
        </p:nvSpPr>
        <p:spPr>
          <a:xfrm>
            <a:off x="4268419" y="5614416"/>
            <a:ext cx="1163116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950" b="1" i="0">
                <a:solidFill>
                  <a:srgbClr val="0F2744"/>
                </a:solidFill>
                <a:latin typeface="Calibri"/>
              </a:rPr>
              <a:t>10/10 round-trip</a:t>
            </a:r>
          </a:p>
        </p:txBody>
      </p:sp>
      <p:sp>
        <p:nvSpPr>
          <p:cNvPr id="17496" name="TextBox 17495"/>
          <p:cNvSpPr txBox="1"/>
          <p:nvPr/>
        </p:nvSpPr>
        <p:spPr>
          <a:xfrm>
            <a:off x="1645920" y="5925312"/>
            <a:ext cx="4206240" cy="23774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Scan to see the code and download the offline model packs.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6172200" y="5193792"/>
            <a:ext cx="269748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98" name="Picture 1749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5352" y="5239512"/>
            <a:ext cx="877824" cy="877824"/>
          </a:xfrm>
          <a:prstGeom prst="rect">
            <a:avLst/>
          </a:prstGeom>
        </p:spPr>
      </p:pic>
      <p:sp>
        <p:nvSpPr>
          <p:cNvPr id="17499" name="TextBox 17498"/>
          <p:cNvSpPr txBox="1"/>
          <p:nvPr/>
        </p:nvSpPr>
        <p:spPr>
          <a:xfrm>
            <a:off x="7196328" y="5285232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App source code</a:t>
            </a:r>
          </a:p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5"/>
              </a:rPr>
              <a:t>github.com/nileshpatil6/</a:t>
            </a:r>
          </a:p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5"/>
              </a:rPr>
              <a:t>SIH-Hexabits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8961120" y="5193792"/>
            <a:ext cx="2697480" cy="9692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E2E8F0"/>
            </a:solidFill>
          </a:ln>
          <a:effectLst>
            <a:outerShdw blurRad="228600" dist="50800" dir="5400000" algn="t" rotWithShape="0">
              <a:srgbClr val="0F172A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501" name="Picture 17500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34272" y="5239512"/>
            <a:ext cx="877824" cy="877824"/>
          </a:xfrm>
          <a:prstGeom prst="rect">
            <a:avLst/>
          </a:prstGeom>
        </p:spPr>
      </p:pic>
      <p:sp>
        <p:nvSpPr>
          <p:cNvPr id="17502" name="TextBox 17501"/>
          <p:cNvSpPr txBox="1"/>
          <p:nvPr/>
        </p:nvSpPr>
        <p:spPr>
          <a:xfrm>
            <a:off x="9985248" y="5285232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50" b="1" i="0">
                <a:solidFill>
                  <a:srgbClr val="0F2744"/>
                </a:solidFill>
                <a:latin typeface="Calibri"/>
              </a:rPr>
              <a:t>Offline model packs</a:t>
            </a:r>
          </a:p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7"/>
              </a:rPr>
              <a:t>huggingface.co/datasets/</a:t>
            </a:r>
          </a:p>
          <a:p>
            <a:pPr algn="l"/>
            <a:r>
              <a:rPr sz="850" b="0" i="0">
                <a:solidFill>
                  <a:srgbClr val="0284C7"/>
                </a:solidFill>
                <a:latin typeface="Calibri"/>
                <a:hlinkClick r:id="rId27"/>
              </a:rPr>
              <a:t>Mr66/itantra-packs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
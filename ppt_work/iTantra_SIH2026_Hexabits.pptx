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100" b="1">
                <a:solidFill>
                  <a:srgbClr val="1F3B73"/>
                </a:solidFill>
                <a:latin typeface="Calibri"/>
              </a:rPr>
              <a:t>Round-trip check: character error % by language (lower is better)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Character error %</c:v>
                </c:pt>
              </c:strCache>
            </c:strRef>
          </c:tx>
          <c:dPt>
            <c:idx val="0"/>
            <c:spPr>
              <a:solidFill>
                <a:srgbClr val="1E8E3E"/>
              </a:solidFill>
            </c:spPr>
          </c:dPt>
          <c:dPt>
            <c:idx val="1"/>
            <c:spPr>
              <a:solidFill>
                <a:srgbClr val="1E8E3E"/>
              </a:solidFill>
            </c:spPr>
          </c:dPt>
          <c:dPt>
            <c:idx val="2"/>
            <c:spPr>
              <a:solidFill>
                <a:srgbClr val="1E8E3E"/>
              </a:solidFill>
            </c:spPr>
          </c:dPt>
          <c:dPt>
            <c:idx val="3"/>
            <c:spPr>
              <a:solidFill>
                <a:srgbClr val="1E8E3E"/>
              </a:solidFill>
            </c:spPr>
          </c:dPt>
          <c:dPt>
            <c:idx val="4"/>
            <c:spPr>
              <a:solidFill>
                <a:srgbClr val="1E8E3E"/>
              </a:solidFill>
            </c:spPr>
          </c:dPt>
          <c:dPt>
            <c:idx val="5"/>
            <c:spPr>
              <a:solidFill>
                <a:srgbClr val="1E8E3E"/>
              </a:solidFill>
            </c:spPr>
          </c:dPt>
          <c:dPt>
            <c:idx val="6"/>
            <c:spPr>
              <a:solidFill>
                <a:srgbClr val="1F3B73"/>
              </a:solidFill>
            </c:spPr>
          </c:dPt>
          <c:dPt>
            <c:idx val="7"/>
            <c:spPr>
              <a:solidFill>
                <a:srgbClr val="1F3B73"/>
              </a:solidFill>
            </c:spPr>
          </c:dPt>
          <c:dPt>
            <c:idx val="8"/>
            <c:spPr>
              <a:solidFill>
                <a:srgbClr val="E8711A"/>
              </a:solidFill>
            </c:spPr>
          </c:dPt>
          <c:dPt>
            <c:idx val="9"/>
            <c:spPr>
              <a:solidFill>
                <a:srgbClr val="E8711A"/>
              </a:solidFill>
            </c:spPr>
          </c:dPt>
          <c:cat>
            <c:strRef>
              <c:f>Sheet1!$A$2:$A$11</c:f>
              <c:strCache>
                <c:ptCount val="10"/>
                <c:pt idx="0">
                  <c:v>Kannada</c:v>
                </c:pt>
                <c:pt idx="1">
                  <c:v>Marathi</c:v>
                </c:pt>
                <c:pt idx="2">
                  <c:v>Tamil</c:v>
                </c:pt>
                <c:pt idx="3">
                  <c:v>Bengali</c:v>
                </c:pt>
                <c:pt idx="4">
                  <c:v>Gujarati</c:v>
                </c:pt>
                <c:pt idx="5">
                  <c:v>Telugu</c:v>
                </c:pt>
                <c:pt idx="6">
                  <c:v>Odia</c:v>
                </c:pt>
                <c:pt idx="7">
                  <c:v>Hindi</c:v>
                </c:pt>
                <c:pt idx="8">
                  <c:v>English</c:v>
                </c:pt>
                <c:pt idx="9">
                  <c:v>Malayalam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1.0</c:v>
                </c:pt>
                <c:pt idx="1">
                  <c:v>1.2</c:v>
                </c:pt>
                <c:pt idx="2">
                  <c:v>2.0</c:v>
                </c:pt>
                <c:pt idx="3">
                  <c:v>3.2</c:v>
                </c:pt>
                <c:pt idx="4">
                  <c:v>3.3</c:v>
                </c:pt>
                <c:pt idx="5">
                  <c:v>3.3</c:v>
                </c:pt>
                <c:pt idx="6">
                  <c:v>6.0</c:v>
                </c:pt>
                <c:pt idx="7">
                  <c:v>8.5</c:v>
                </c:pt>
                <c:pt idx="8">
                  <c:v>10.2</c:v>
                </c:pt>
                <c:pt idx="9">
                  <c:v>13.6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900">
                  <a:solidFill>
                    <a:srgbClr val="1E293B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9E1EA"/>
            </a:solidFill>
          </a:ln>
        </c:spPr>
        <c:txPr>
          <a:bodyPr/>
          <a:lstStyle/>
          <a:p>
            <a:pPr>
              <a:defRPr sz="850">
                <a:solidFill>
                  <a:srgbClr val="5B6B7F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6.0"/>
        </c:scaling>
        <c:delete/>
        <c:axPos val="l"/>
        <c:majorGridlines>
          <c:spPr>
            <a:ln>
              <a:solidFill>
                <a:srgbClr val="EEF1F5"/>
              </a:solidFill>
            </a:ln>
          </c:spPr>
        </c:majorGridlines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t>Pipeline: speak, on-device STT, a ~234 byte signed packet, phone-to-phone mesh, on-device TTS. The byte figures are measured from our packet format: 22 B header, text, 64 B signature.</a:t>
            </a: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t>Everything runs on the phone: Flutter UI, Kotlin native layer, sherpa-onnx for STT, TTS and VAD. The prototype is running on a OnePlus today; timings on the right are measured on that phone.</a:t>
            </a: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t>Feasibility is proven, not assumed: the app runs today and all 10 languages pass a round-trip check. RAM figure is an engineering estimate to be replaced with dumpsys meminfo on a 3 GB phone.</a:t>
            </a: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t>Census 2011: Hindi, Bengali, Marathi, Telugu, Tamil, Gujarati, Kannada, Odia and Malayalam together are ~85% of mother-tongue speakers; literacy 74% means ~26% of people aged 7+ cannot read.</a:t>
            </a: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t>All links are clickable in the PDF export.</a:t>
            </a: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iTantra turns speech into a tiny signed text packet on the sender's phone, relays it phone to phone over Bluetooth and Wi-Fi Direct, and speaks it again on the receiver. No tower, internet or server.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notesSlide" Target="../notesSlides/notesSlide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8" Type="http://schemas.openxmlformats.org/officeDocument/2006/relationships/image" Target="../media/image11.png"/><Relationship Id="rId9" Type="http://schemas.openxmlformats.org/officeDocument/2006/relationships/image" Target="../media/image12.png"/><Relationship Id="rId10" Type="http://schemas.openxmlformats.org/officeDocument/2006/relationships/image" Target="../media/image13.png"/><Relationship Id="rId11" Type="http://schemas.openxmlformats.org/officeDocument/2006/relationships/image" Target="../media/image14.png"/><Relationship Id="rId12" Type="http://schemas.openxmlformats.org/officeDocument/2006/relationships/image" Target="../media/image15.png"/><Relationship Id="rId13" Type="http://schemas.openxmlformats.org/officeDocument/2006/relationships/image" Target="../media/image16.png"/><Relationship Id="rId14" Type="http://schemas.openxmlformats.org/officeDocument/2006/relationships/image" Target="../media/image17.png"/><Relationship Id="rId15" Type="http://schemas.openxmlformats.org/officeDocument/2006/relationships/image" Target="../media/image18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image" Target="../media/image21.png"/><Relationship Id="rId7" Type="http://schemas.openxmlformats.org/officeDocument/2006/relationships/image" Target="../media/image22.png"/><Relationship Id="rId8" Type="http://schemas.openxmlformats.org/officeDocument/2006/relationships/image" Target="../media/image23.png"/><Relationship Id="rId9" Type="http://schemas.openxmlformats.org/officeDocument/2006/relationships/image" Target="../media/image24.png"/><Relationship Id="rId10" Type="http://schemas.openxmlformats.org/officeDocument/2006/relationships/image" Target="../media/image25.png"/><Relationship Id="rId11" Type="http://schemas.openxmlformats.org/officeDocument/2006/relationships/image" Target="../media/image26.png"/><Relationship Id="rId12" Type="http://schemas.openxmlformats.org/officeDocument/2006/relationships/image" Target="../media/image27.png"/><Relationship Id="rId13" Type="http://schemas.openxmlformats.org/officeDocument/2006/relationships/image" Target="../media/image28.png"/><Relationship Id="rId14" Type="http://schemas.openxmlformats.org/officeDocument/2006/relationships/image" Target="../media/image29.png"/><Relationship Id="rId15" Type="http://schemas.openxmlformats.org/officeDocument/2006/relationships/image" Target="../media/image30.png"/><Relationship Id="rId16" Type="http://schemas.openxmlformats.org/officeDocument/2006/relationships/image" Target="../media/image3.png"/><Relationship Id="rId17" Type="http://schemas.openxmlformats.org/officeDocument/2006/relationships/image" Target="../media/image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31.png"/><Relationship Id="rId5" Type="http://schemas.openxmlformats.org/officeDocument/2006/relationships/chart" Target="../charts/chart1.xml"/><Relationship Id="rId6" Type="http://schemas.openxmlformats.org/officeDocument/2006/relationships/image" Target="../media/image32.png"/><Relationship Id="rId7" Type="http://schemas.openxmlformats.org/officeDocument/2006/relationships/image" Target="../media/image20.png"/><Relationship Id="rId8" Type="http://schemas.openxmlformats.org/officeDocument/2006/relationships/image" Target="../media/image13.png"/><Relationship Id="rId9" Type="http://schemas.openxmlformats.org/officeDocument/2006/relationships/image" Target="../media/image33.png"/><Relationship Id="rId10" Type="http://schemas.openxmlformats.org/officeDocument/2006/relationships/image" Target="../media/image34.png"/><Relationship Id="rId11" Type="http://schemas.openxmlformats.org/officeDocument/2006/relationships/image" Target="../media/image35.png"/><Relationship Id="rId12" Type="http://schemas.openxmlformats.org/officeDocument/2006/relationships/image" Target="../media/image3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37.png"/><Relationship Id="rId5" Type="http://schemas.openxmlformats.org/officeDocument/2006/relationships/image" Target="../media/image38.png"/><Relationship Id="rId6" Type="http://schemas.openxmlformats.org/officeDocument/2006/relationships/image" Target="../media/image39.png"/><Relationship Id="rId7" Type="http://schemas.openxmlformats.org/officeDocument/2006/relationships/image" Target="../media/image40.png"/><Relationship Id="rId8" Type="http://schemas.openxmlformats.org/officeDocument/2006/relationships/image" Target="../media/image41.png"/><Relationship Id="rId9" Type="http://schemas.openxmlformats.org/officeDocument/2006/relationships/image" Target="../media/image42.png"/><Relationship Id="rId10" Type="http://schemas.openxmlformats.org/officeDocument/2006/relationships/image" Target="../media/image43.png"/><Relationship Id="rId11" Type="http://schemas.openxmlformats.org/officeDocument/2006/relationships/image" Target="../media/image4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45.png"/><Relationship Id="rId5" Type="http://schemas.openxmlformats.org/officeDocument/2006/relationships/image" Target="../media/image46.png"/><Relationship Id="rId6" Type="http://schemas.openxmlformats.org/officeDocument/2006/relationships/hyperlink" Target="https://github.com/AI4Bharat/IndicConformerASR" TargetMode="External"/><Relationship Id="rId7" Type="http://schemas.openxmlformats.org/officeDocument/2006/relationships/hyperlink" Target="https://github.com/k2-fsa/sherpa-onnx" TargetMode="External"/><Relationship Id="rId8" Type="http://schemas.openxmlformats.org/officeDocument/2006/relationships/hyperlink" Target="https://huggingface.co/facebook/mms-tts" TargetMode="External"/><Relationship Id="rId9" Type="http://schemas.openxmlformats.org/officeDocument/2006/relationships/hyperlink" Target="https://github.com/snakers4/silero-vad" TargetMode="External"/><Relationship Id="rId10" Type="http://schemas.openxmlformats.org/officeDocument/2006/relationships/hyperlink" Target="https://huggingface.co/parismitaglobalsolutions/indicconformer-sherpa-onnx" TargetMode="External"/><Relationship Id="rId11" Type="http://schemas.openxmlformats.org/officeDocument/2006/relationships/image" Target="../media/image47.png"/><Relationship Id="rId12" Type="http://schemas.openxmlformats.org/officeDocument/2006/relationships/hyperlink" Target="https://arxiv.org/abs/2403.01926" TargetMode="External"/><Relationship Id="rId13" Type="http://schemas.openxmlformats.org/officeDocument/2006/relationships/hyperlink" Target="https://arxiv.org/abs/2512.00451" TargetMode="External"/><Relationship Id="rId14" Type="http://schemas.openxmlformats.org/officeDocument/2006/relationships/hyperlink" Target="https://github.com/AI4Bharat/IndicVoices-R" TargetMode="External"/><Relationship Id="rId15" Type="http://schemas.openxmlformats.org/officeDocument/2006/relationships/hyperlink" Target="https://github.com/permissionlesstech/bitchat" TargetMode="External"/><Relationship Id="rId16" Type="http://schemas.openxmlformats.org/officeDocument/2006/relationships/hyperlink" Target="https://vaani.iisc.ac.in/dataset/syspindataset" TargetMode="External"/><Relationship Id="rId17" Type="http://schemas.openxmlformats.org/officeDocument/2006/relationships/image" Target="../media/image48.png"/><Relationship Id="rId18" Type="http://schemas.openxmlformats.org/officeDocument/2006/relationships/hyperlink" Target="https://en.wikipedia.org/wiki/FireChat" TargetMode="External"/><Relationship Id="rId19" Type="http://schemas.openxmlformats.org/officeDocument/2006/relationships/hyperlink" Target="https://www.forbes.com/sites/digital-assets/2025/09/11/jack-dorseys-bitchat-gains-traction-during-nepals-unrest/" TargetMode="External"/><Relationship Id="rId20" Type="http://schemas.openxmlformats.org/officeDocument/2006/relationships/hyperlink" Target="https://censusindia.gov.in" TargetMode="External"/><Relationship Id="rId21" Type="http://schemas.openxmlformats.org/officeDocument/2006/relationships/hyperlink" Target="https://ndma.gov.in" TargetMode="External"/><Relationship Id="rId22" Type="http://schemas.openxmlformats.org/officeDocument/2006/relationships/hyperlink" Target="https://techcrunch.com/2020/11/02/bridgefy-launches-end-to-end-encrypted-messaging-for-the-app-used-during-protests-and-disasters/" TargetMode="External"/><Relationship Id="rId23" Type="http://schemas.openxmlformats.org/officeDocument/2006/relationships/image" Target="../media/image6.png"/><Relationship Id="rId24" Type="http://schemas.openxmlformats.org/officeDocument/2006/relationships/image" Target="../media/image49.png"/><Relationship Id="rId25" Type="http://schemas.openxmlformats.org/officeDocument/2006/relationships/hyperlink" Target="https://github.com/nileshpatil6/SIH-Hexabits" TargetMode="External"/><Relationship Id="rId26" Type="http://schemas.openxmlformats.org/officeDocument/2006/relationships/image" Target="../media/image50.png"/><Relationship Id="rId27" Type="http://schemas.openxmlformats.org/officeDocument/2006/relationships/hyperlink" Target="https://huggingface.co/datasets/Mr66/itantra-packs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 sz="2400">
                <a:solidFill>
                  <a:srgbClr val="1F3B7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iTantra: Voice That Travels as Meaning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40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1874519"/>
            <a:ext cx="5924550" cy="40233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900"/>
              </a:spcAft>
            </a:pPr>
            <a:r>
              <a:rPr b="1" sz="1500">
                <a:solidFill>
                  <a:srgbClr val="1F3B73"/>
                </a:solidFill>
                <a:latin typeface="Calibri"/>
              </a:rPr>
              <a:t>Problem Statement ID – </a:t>
            </a:r>
            <a:r>
              <a:rPr b="0" sz="1500">
                <a:solidFill>
                  <a:srgbClr val="1E293B"/>
                </a:solidFill>
                <a:latin typeface="Calibri"/>
              </a:rPr>
              <a:t>SIH26173</a:t>
            </a:r>
            <a:endParaRPr lang="en-US" dirty="0"/>
          </a:p>
          <a:p>
            <a:pPr>
              <a:spcAft>
                <a:spcPts val="900"/>
              </a:spcAft>
            </a:pPr>
            <a:r>
              <a:rPr b="1" sz="1500">
                <a:solidFill>
                  <a:srgbClr val="1F3B73"/>
                </a:solidFill>
                <a:latin typeface="Calibri"/>
              </a:rPr>
              <a:t>Problem Statement Title – </a:t>
            </a:r>
            <a:r>
              <a:rPr b="0" sz="1500">
                <a:solidFill>
                  <a:srgbClr val="1E293B"/>
                </a:solidFill>
                <a:latin typeface="Calibri"/>
              </a:rPr>
              <a:t>iTantra: Indian Multilingual TTS &amp; STT Aided Neural Transceiver Radio Access for low bitrate links</a:t>
            </a:r>
          </a:p>
          <a:p>
            <a:pPr>
              <a:spcAft>
                <a:spcPts val="900"/>
              </a:spcAft>
            </a:pPr>
            <a:r>
              <a:rPr b="1" sz="1500">
                <a:solidFill>
                  <a:srgbClr val="1F3B73"/>
                </a:solidFill>
                <a:latin typeface="Calibri"/>
              </a:rPr>
              <a:t>Organisation – </a:t>
            </a:r>
            <a:r>
              <a:rPr b="0" sz="1500">
                <a:solidFill>
                  <a:srgbClr val="1E293B"/>
                </a:solidFill>
                <a:latin typeface="Calibri"/>
              </a:rPr>
              <a:t>Indian Space Research Organisation (ISRO)</a:t>
            </a:r>
          </a:p>
          <a:p>
            <a:pPr>
              <a:spcAft>
                <a:spcPts val="900"/>
              </a:spcAft>
            </a:pPr>
            <a:r>
              <a:rPr b="1" sz="1500">
                <a:solidFill>
                  <a:srgbClr val="1F3B73"/>
                </a:solidFill>
                <a:latin typeface="Calibri"/>
              </a:rPr>
              <a:t>Theme – </a:t>
            </a:r>
            <a:r>
              <a:rPr b="0" sz="1500">
                <a:solidFill>
                  <a:srgbClr val="1E293B"/>
                </a:solidFill>
                <a:latin typeface="Calibri"/>
              </a:rPr>
              <a:t>Miscellaneous</a:t>
            </a:r>
          </a:p>
          <a:p>
            <a:pPr>
              <a:spcAft>
                <a:spcPts val="900"/>
              </a:spcAft>
            </a:pPr>
            <a:r>
              <a:rPr b="1" sz="1500">
                <a:solidFill>
                  <a:srgbClr val="1F3B73"/>
                </a:solidFill>
                <a:latin typeface="Calibri"/>
              </a:rPr>
              <a:t>PS Category – </a:t>
            </a:r>
            <a:r>
              <a:rPr b="0" sz="1500">
                <a:solidFill>
                  <a:srgbClr val="1E293B"/>
                </a:solidFill>
                <a:latin typeface="Calibri"/>
              </a:rPr>
              <a:t>Software</a:t>
            </a:r>
          </a:p>
          <a:p>
            <a:pPr>
              <a:spcAft>
                <a:spcPts val="900"/>
              </a:spcAft>
            </a:pPr>
            <a:r>
              <a:rPr b="1" sz="1500">
                <a:solidFill>
                  <a:srgbClr val="1F3B73"/>
                </a:solidFill>
                <a:latin typeface="Calibri"/>
              </a:rPr>
              <a:t>Team ID – </a:t>
            </a:r>
          </a:p>
          <a:p>
            <a:pPr>
              <a:spcAft>
                <a:spcPts val="900"/>
              </a:spcAft>
            </a:pPr>
            <a:r>
              <a:rPr b="1" sz="1500">
                <a:solidFill>
                  <a:srgbClr val="1F3B73"/>
                </a:solidFill>
                <a:latin typeface="Calibri"/>
              </a:rPr>
              <a:t>Team Name (Registered on portal) – </a:t>
            </a:r>
            <a:r>
              <a:rPr b="0" sz="1500">
                <a:solidFill>
                  <a:srgbClr val="1E293B"/>
                </a:solidFill>
                <a:latin typeface="Calibri"/>
              </a:rPr>
              <a:t>Hexabits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8" name="Rounded Rectangle 37"/>
          <p:cNvSpPr/>
          <p:nvPr/>
        </p:nvSpPr>
        <p:spPr>
          <a:xfrm>
            <a:off x="457200" y="4983480"/>
            <a:ext cx="2029968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1E8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9" name="Picture 38" descr="phone_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072" y="5074920"/>
            <a:ext cx="274320" cy="274320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914400" y="4983480"/>
            <a:ext cx="1554480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050" b="1" i="0">
                <a:solidFill>
                  <a:srgbClr val="1E8E3E"/>
                </a:solidFill>
                <a:latin typeface="Calibri"/>
              </a:rPr>
              <a:t>Working prototype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606040" y="4983480"/>
            <a:ext cx="2029968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E871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2" name="Picture 41" descr="lang_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24912" y="5074920"/>
            <a:ext cx="274320" cy="274320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3063240" y="4983480"/>
            <a:ext cx="1554480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050" b="1" i="0">
                <a:solidFill>
                  <a:srgbClr val="E8711A"/>
                </a:solidFill>
                <a:latin typeface="Calibri"/>
              </a:rPr>
              <a:t>10 languages, offline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754880" y="4983480"/>
            <a:ext cx="2029968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1F3B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5" name="Picture 44" descr="github_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73752" y="5074920"/>
            <a:ext cx="274320" cy="274320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5212080" y="4983480"/>
            <a:ext cx="1554480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050" b="1" i="0">
                <a:solidFill>
                  <a:srgbClr val="1F3B73"/>
                </a:solidFill>
                <a:latin typeface="Calibri"/>
              </a:rPr>
              <a:t>Fully open source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29184" y="5943600"/>
            <a:ext cx="11521440" cy="749808"/>
          </a:xfrm>
          <a:prstGeom prst="roundRect">
            <a:avLst>
              <a:gd name="adj" fmla="val 50000"/>
            </a:avLst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8" name="Picture 47" descr="logo-itantra-v1-20260930-170705-transparen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2920" y="5943600"/>
            <a:ext cx="749808" cy="749808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1371600" y="5943600"/>
            <a:ext cx="10332720" cy="74980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600" b="1" i="0">
                <a:solidFill>
                  <a:srgbClr val="1F3B73"/>
                </a:solidFill>
                <a:latin typeface="Calibri"/>
              </a:rPr>
              <a:t>iTantra  </a:t>
            </a:r>
            <a:r>
              <a:rPr sz="1300" b="0" i="0">
                <a:solidFill>
                  <a:srgbClr val="1E293B"/>
                </a:solidFill>
                <a:latin typeface="Calibri"/>
              </a:rPr>
              <a:t>Offline speech-to-speech radio for disasters  •  10 Indian languages  •  ~234 bytes per spoken sentence  •  runs on 3 GB Android phones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r>
              <a:rPr lang="en-US" sz="28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iTantra: Send the Meaning, Not the Audio</a:t>
            </a:r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z="1200" b="1">
                <a:solidFill>
                  <a:srgbClr val="1F3B73"/>
                </a:solidFill>
              </a:rPr>
              <a:t>Hexabits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5362" name="TextBox 15361"/>
          <p:cNvSpPr txBox="1"/>
          <p:nvPr/>
        </p:nvSpPr>
        <p:spPr>
          <a:xfrm>
            <a:off x="411480" y="1143000"/>
            <a:ext cx="11338560" cy="3657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1" i="0">
                <a:solidFill>
                  <a:srgbClr val="E8711A"/>
                </a:solidFill>
                <a:latin typeface="Calibri"/>
              </a:rPr>
              <a:t>❖  </a:t>
            </a:r>
            <a:r>
              <a:rPr sz="1700" b="1" i="0">
                <a:solidFill>
                  <a:srgbClr val="0070C0"/>
                </a:solidFill>
                <a:latin typeface="Calibri"/>
              </a:rPr>
              <a:t>Proposed Solution (Describe your Idea/Solution/Prototype)</a:t>
            </a:r>
          </a:p>
        </p:txBody>
      </p:sp>
      <p:sp>
        <p:nvSpPr>
          <p:cNvPr id="15363" name="TextBox 15362"/>
          <p:cNvSpPr txBox="1"/>
          <p:nvPr/>
        </p:nvSpPr>
        <p:spPr>
          <a:xfrm>
            <a:off x="411480" y="1481328"/>
            <a:ext cx="11338560" cy="2743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150" b="0" i="0">
                <a:solidFill>
                  <a:srgbClr val="5B6B7F"/>
                </a:solidFill>
                <a:latin typeface="Calibri"/>
              </a:rPr>
              <a:t>An Android walkie-talkie that turns speech into a few hundred bytes of signed text, relays it phone to phone, and speaks it again on the other side.</a:t>
            </a:r>
          </a:p>
        </p:txBody>
      </p:sp>
      <p:sp>
        <p:nvSpPr>
          <p:cNvPr id="15364" name="Rounded Rectangle 15363"/>
          <p:cNvSpPr/>
          <p:nvPr/>
        </p:nvSpPr>
        <p:spPr>
          <a:xfrm>
            <a:off x="411480" y="1847088"/>
            <a:ext cx="2083003" cy="932688"/>
          </a:xfrm>
          <a:prstGeom prst="roundRect">
            <a:avLst>
              <a:gd name="adj" fmla="val 14000"/>
            </a:avLst>
          </a:prstGeom>
          <a:solidFill>
            <a:srgbClr val="FF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365" name="Oval 15364"/>
          <p:cNvSpPr/>
          <p:nvPr/>
        </p:nvSpPr>
        <p:spPr>
          <a:xfrm>
            <a:off x="539496" y="2048256"/>
            <a:ext cx="530352" cy="530352"/>
          </a:xfrm>
          <a:prstGeom prst="ellipse">
            <a:avLst/>
          </a:prstGeom>
          <a:solidFill>
            <a:srgbClr val="E871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5366" name="Picture 15365" descr="mic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173" y="2164933"/>
            <a:ext cx="296997" cy="296997"/>
          </a:xfrm>
          <a:prstGeom prst="rect">
            <a:avLst/>
          </a:prstGeom>
        </p:spPr>
      </p:pic>
      <p:sp>
        <p:nvSpPr>
          <p:cNvPr id="15367" name="TextBox 15366"/>
          <p:cNvSpPr txBox="1"/>
          <p:nvPr/>
        </p:nvSpPr>
        <p:spPr>
          <a:xfrm>
            <a:off x="1161288" y="1938528"/>
            <a:ext cx="1260043" cy="310896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250" b="1" i="0">
                <a:solidFill>
                  <a:srgbClr val="E8711A"/>
                </a:solidFill>
                <a:latin typeface="Calibri"/>
              </a:rPr>
              <a:t>1  </a:t>
            </a:r>
            <a:r>
              <a:rPr sz="1250" b="1" i="0">
                <a:solidFill>
                  <a:srgbClr val="1E293B"/>
                </a:solidFill>
                <a:latin typeface="Calibri"/>
              </a:rPr>
              <a:t>Speak</a:t>
            </a:r>
          </a:p>
        </p:txBody>
      </p:sp>
      <p:sp>
        <p:nvSpPr>
          <p:cNvPr id="15368" name="TextBox 15367"/>
          <p:cNvSpPr txBox="1"/>
          <p:nvPr/>
        </p:nvSpPr>
        <p:spPr>
          <a:xfrm>
            <a:off x="1161288" y="2249424"/>
            <a:ext cx="1260043" cy="47548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950" b="0" i="0">
                <a:solidFill>
                  <a:srgbClr val="5B6B7F"/>
                </a:solidFill>
                <a:latin typeface="Calibri"/>
              </a:rPr>
              <a:t>Any of 10 Indian languages, push-to-talk or hands-free</a:t>
            </a:r>
          </a:p>
        </p:txBody>
      </p:sp>
      <p:sp>
        <p:nvSpPr>
          <p:cNvPr id="15369" name="Chevron 15368"/>
          <p:cNvSpPr/>
          <p:nvPr/>
        </p:nvSpPr>
        <p:spPr>
          <a:xfrm>
            <a:off x="2531059" y="2221992"/>
            <a:ext cx="164592" cy="182880"/>
          </a:xfrm>
          <a:prstGeom prst="chevron">
            <a:avLst/>
          </a:prstGeom>
          <a:solidFill>
            <a:srgbClr val="B8C4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370" name="Rounded Rectangle 15369"/>
          <p:cNvSpPr/>
          <p:nvPr/>
        </p:nvSpPr>
        <p:spPr>
          <a:xfrm>
            <a:off x="2732227" y="1847088"/>
            <a:ext cx="2083003" cy="932688"/>
          </a:xfrm>
          <a:prstGeom prst="roundRect">
            <a:avLst>
              <a:gd name="adj" fmla="val 14000"/>
            </a:avLst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371" name="Oval 15370"/>
          <p:cNvSpPr/>
          <p:nvPr/>
        </p:nvSpPr>
        <p:spPr>
          <a:xfrm>
            <a:off x="2860243" y="2048256"/>
            <a:ext cx="530352" cy="530352"/>
          </a:xfrm>
          <a:prstGeom prst="ellipse">
            <a:avLst/>
          </a:prstGeom>
          <a:solidFill>
            <a:srgbClr val="1F3B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5372" name="Picture 15371" descr="stt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76920" y="2164933"/>
            <a:ext cx="296997" cy="296997"/>
          </a:xfrm>
          <a:prstGeom prst="rect">
            <a:avLst/>
          </a:prstGeom>
        </p:spPr>
      </p:pic>
      <p:sp>
        <p:nvSpPr>
          <p:cNvPr id="15373" name="TextBox 15372"/>
          <p:cNvSpPr txBox="1"/>
          <p:nvPr/>
        </p:nvSpPr>
        <p:spPr>
          <a:xfrm>
            <a:off x="3482035" y="1938528"/>
            <a:ext cx="1260043" cy="310896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250" b="1" i="0">
                <a:solidFill>
                  <a:srgbClr val="1F3B73"/>
                </a:solidFill>
                <a:latin typeface="Calibri"/>
              </a:rPr>
              <a:t>2  </a:t>
            </a:r>
            <a:r>
              <a:rPr sz="1250" b="1" i="0">
                <a:solidFill>
                  <a:srgbClr val="1E293B"/>
                </a:solidFill>
                <a:latin typeface="Calibri"/>
              </a:rPr>
              <a:t>On-device STT</a:t>
            </a:r>
          </a:p>
        </p:txBody>
      </p:sp>
      <p:sp>
        <p:nvSpPr>
          <p:cNvPr id="15374" name="TextBox 15373"/>
          <p:cNvSpPr txBox="1"/>
          <p:nvPr/>
        </p:nvSpPr>
        <p:spPr>
          <a:xfrm>
            <a:off x="3482035" y="2249424"/>
            <a:ext cx="1260043" cy="47548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950" b="0" i="0">
                <a:solidFill>
                  <a:srgbClr val="5B6B7F"/>
                </a:solidFill>
                <a:latin typeface="Calibri"/>
              </a:rPr>
              <a:t>Silero VAD finds the pause; IndicConformer writes the sentence</a:t>
            </a:r>
          </a:p>
        </p:txBody>
      </p:sp>
      <p:sp>
        <p:nvSpPr>
          <p:cNvPr id="15375" name="Chevron 15374"/>
          <p:cNvSpPr/>
          <p:nvPr/>
        </p:nvSpPr>
        <p:spPr>
          <a:xfrm>
            <a:off x="4851806" y="2221992"/>
            <a:ext cx="164592" cy="182880"/>
          </a:xfrm>
          <a:prstGeom prst="chevron">
            <a:avLst/>
          </a:prstGeom>
          <a:solidFill>
            <a:srgbClr val="B8C4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376" name="Rounded Rectangle 15375"/>
          <p:cNvSpPr/>
          <p:nvPr/>
        </p:nvSpPr>
        <p:spPr>
          <a:xfrm>
            <a:off x="5052974" y="1847088"/>
            <a:ext cx="2083003" cy="932688"/>
          </a:xfrm>
          <a:prstGeom prst="roundRect">
            <a:avLst>
              <a:gd name="adj" fmla="val 14000"/>
            </a:avLst>
          </a:prstGeom>
          <a:solidFill>
            <a:srgbClr val="EA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377" name="Oval 15376"/>
          <p:cNvSpPr/>
          <p:nvPr/>
        </p:nvSpPr>
        <p:spPr>
          <a:xfrm>
            <a:off x="5180990" y="2048256"/>
            <a:ext cx="530352" cy="530352"/>
          </a:xfrm>
          <a:prstGeom prst="ellipse">
            <a:avLst/>
          </a:prstGeom>
          <a:solidFill>
            <a:srgbClr val="1E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5378" name="Picture 15377" descr="packet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97667" y="2164933"/>
            <a:ext cx="296997" cy="296997"/>
          </a:xfrm>
          <a:prstGeom prst="rect">
            <a:avLst/>
          </a:prstGeom>
        </p:spPr>
      </p:pic>
      <p:sp>
        <p:nvSpPr>
          <p:cNvPr id="15379" name="TextBox 15378"/>
          <p:cNvSpPr txBox="1"/>
          <p:nvPr/>
        </p:nvSpPr>
        <p:spPr>
          <a:xfrm>
            <a:off x="5802782" y="1938528"/>
            <a:ext cx="1260043" cy="310896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250" b="1" i="0">
                <a:solidFill>
                  <a:srgbClr val="1E8E3E"/>
                </a:solidFill>
                <a:latin typeface="Calibri"/>
              </a:rPr>
              <a:t>3  </a:t>
            </a:r>
            <a:r>
              <a:rPr sz="1250" b="1" i="0">
                <a:solidFill>
                  <a:srgbClr val="1E293B"/>
                </a:solidFill>
                <a:latin typeface="Calibri"/>
              </a:rPr>
              <a:t>234 B packet</a:t>
            </a:r>
          </a:p>
        </p:txBody>
      </p:sp>
      <p:sp>
        <p:nvSpPr>
          <p:cNvPr id="15380" name="TextBox 15379"/>
          <p:cNvSpPr txBox="1"/>
          <p:nvPr/>
        </p:nvSpPr>
        <p:spPr>
          <a:xfrm>
            <a:off x="5802782" y="2249424"/>
            <a:ext cx="1260043" cy="47548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950" b="0" i="0">
                <a:solidFill>
                  <a:srgbClr val="5B6B7F"/>
                </a:solidFill>
                <a:latin typeface="Calibri"/>
              </a:rPr>
              <a:t>Text + language + Ed25519 signature, TTL 7</a:t>
            </a:r>
          </a:p>
        </p:txBody>
      </p:sp>
      <p:sp>
        <p:nvSpPr>
          <p:cNvPr id="15381" name="Chevron 15380"/>
          <p:cNvSpPr/>
          <p:nvPr/>
        </p:nvSpPr>
        <p:spPr>
          <a:xfrm>
            <a:off x="7172553" y="2221992"/>
            <a:ext cx="164592" cy="182880"/>
          </a:xfrm>
          <a:prstGeom prst="chevron">
            <a:avLst/>
          </a:prstGeom>
          <a:solidFill>
            <a:srgbClr val="B8C4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382" name="Rounded Rectangle 15381"/>
          <p:cNvSpPr/>
          <p:nvPr/>
        </p:nvSpPr>
        <p:spPr>
          <a:xfrm>
            <a:off x="7373721" y="1847088"/>
            <a:ext cx="2083003" cy="932688"/>
          </a:xfrm>
          <a:prstGeom prst="roundRect">
            <a:avLst>
              <a:gd name="adj" fmla="val 14000"/>
            </a:avLst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383" name="Oval 15382"/>
          <p:cNvSpPr/>
          <p:nvPr/>
        </p:nvSpPr>
        <p:spPr>
          <a:xfrm>
            <a:off x="7501737" y="2048256"/>
            <a:ext cx="530352" cy="530352"/>
          </a:xfrm>
          <a:prstGeom prst="ellips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5384" name="Picture 15383" descr="mesh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18415" y="2164933"/>
            <a:ext cx="296997" cy="296997"/>
          </a:xfrm>
          <a:prstGeom prst="rect">
            <a:avLst/>
          </a:prstGeom>
        </p:spPr>
      </p:pic>
      <p:sp>
        <p:nvSpPr>
          <p:cNvPr id="15385" name="TextBox 15384"/>
          <p:cNvSpPr txBox="1"/>
          <p:nvPr/>
        </p:nvSpPr>
        <p:spPr>
          <a:xfrm>
            <a:off x="8123529" y="1938528"/>
            <a:ext cx="1260043" cy="310896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250" b="1" i="0">
                <a:solidFill>
                  <a:srgbClr val="0070C0"/>
                </a:solidFill>
                <a:latin typeface="Calibri"/>
              </a:rPr>
              <a:t>4  </a:t>
            </a:r>
            <a:r>
              <a:rPr sz="1250" b="1" i="0">
                <a:solidFill>
                  <a:srgbClr val="1E293B"/>
                </a:solidFill>
                <a:latin typeface="Calibri"/>
              </a:rPr>
              <a:t>Phone mesh</a:t>
            </a:r>
          </a:p>
        </p:txBody>
      </p:sp>
      <p:sp>
        <p:nvSpPr>
          <p:cNvPr id="15386" name="TextBox 15385"/>
          <p:cNvSpPr txBox="1"/>
          <p:nvPr/>
        </p:nvSpPr>
        <p:spPr>
          <a:xfrm>
            <a:off x="8123529" y="2249424"/>
            <a:ext cx="1260043" cy="47548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950" b="0" i="0">
                <a:solidFill>
                  <a:srgbClr val="5B6B7F"/>
                </a:solidFill>
                <a:latin typeface="Calibri"/>
              </a:rPr>
              <a:t>BLE + Wi-Fi Direct relays, up to 7 hops, no tower</a:t>
            </a:r>
          </a:p>
        </p:txBody>
      </p:sp>
      <p:sp>
        <p:nvSpPr>
          <p:cNvPr id="15387" name="Chevron 15386"/>
          <p:cNvSpPr/>
          <p:nvPr/>
        </p:nvSpPr>
        <p:spPr>
          <a:xfrm>
            <a:off x="9493300" y="2221992"/>
            <a:ext cx="164592" cy="182880"/>
          </a:xfrm>
          <a:prstGeom prst="chevron">
            <a:avLst/>
          </a:prstGeom>
          <a:solidFill>
            <a:srgbClr val="B8C4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388" name="Rounded Rectangle 15387"/>
          <p:cNvSpPr/>
          <p:nvPr/>
        </p:nvSpPr>
        <p:spPr>
          <a:xfrm>
            <a:off x="9694468" y="1847088"/>
            <a:ext cx="2083003" cy="932688"/>
          </a:xfrm>
          <a:prstGeom prst="roundRect">
            <a:avLst>
              <a:gd name="adj" fmla="val 14000"/>
            </a:avLst>
          </a:prstGeom>
          <a:solidFill>
            <a:srgbClr val="FF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389" name="Oval 15388"/>
          <p:cNvSpPr/>
          <p:nvPr/>
        </p:nvSpPr>
        <p:spPr>
          <a:xfrm>
            <a:off x="9822484" y="2048256"/>
            <a:ext cx="530352" cy="530352"/>
          </a:xfrm>
          <a:prstGeom prst="ellipse">
            <a:avLst/>
          </a:prstGeom>
          <a:solidFill>
            <a:srgbClr val="E871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5390" name="Picture 15389" descr="speaker_w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939162" y="2164933"/>
            <a:ext cx="296997" cy="296997"/>
          </a:xfrm>
          <a:prstGeom prst="rect">
            <a:avLst/>
          </a:prstGeom>
        </p:spPr>
      </p:pic>
      <p:sp>
        <p:nvSpPr>
          <p:cNvPr id="15391" name="TextBox 15390"/>
          <p:cNvSpPr txBox="1"/>
          <p:nvPr/>
        </p:nvSpPr>
        <p:spPr>
          <a:xfrm>
            <a:off x="10444276" y="1938528"/>
            <a:ext cx="1260043" cy="310896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250" b="1" i="0">
                <a:solidFill>
                  <a:srgbClr val="E8711A"/>
                </a:solidFill>
                <a:latin typeface="Calibri"/>
              </a:rPr>
              <a:t>5  </a:t>
            </a:r>
            <a:r>
              <a:rPr sz="1250" b="1" i="0">
                <a:solidFill>
                  <a:srgbClr val="1E293B"/>
                </a:solidFill>
                <a:latin typeface="Calibri"/>
              </a:rPr>
              <a:t>Spoken aloud</a:t>
            </a:r>
          </a:p>
        </p:txBody>
      </p:sp>
      <p:sp>
        <p:nvSpPr>
          <p:cNvPr id="15392" name="TextBox 15391"/>
          <p:cNvSpPr txBox="1"/>
          <p:nvPr/>
        </p:nvSpPr>
        <p:spPr>
          <a:xfrm>
            <a:off x="10444276" y="2249424"/>
            <a:ext cx="1260043" cy="47548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950" b="0" i="0">
                <a:solidFill>
                  <a:srgbClr val="5B6B7F"/>
                </a:solidFill>
                <a:latin typeface="Calibri"/>
              </a:rPr>
              <a:t>On-device TTS voice; alerts ring at max volume</a:t>
            </a:r>
          </a:p>
        </p:txBody>
      </p:sp>
      <p:pic>
        <p:nvPicPr>
          <p:cNvPr id="15393" name="Picture 15392" descr="hero_w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7200" y="2907792"/>
            <a:ext cx="5120640" cy="2862072"/>
          </a:xfrm>
          <a:prstGeom prst="rect">
            <a:avLst/>
          </a:prstGeom>
        </p:spPr>
      </p:pic>
      <p:sp>
        <p:nvSpPr>
          <p:cNvPr id="15394" name="Rounded Rectangle 15393"/>
          <p:cNvSpPr/>
          <p:nvPr/>
        </p:nvSpPr>
        <p:spPr>
          <a:xfrm>
            <a:off x="411480" y="5788152"/>
            <a:ext cx="1691639" cy="493776"/>
          </a:xfrm>
          <a:prstGeom prst="roundRect">
            <a:avLst>
              <a:gd name="adj" fmla="val 30000"/>
            </a:avLst>
          </a:prstGeom>
          <a:solidFill>
            <a:srgbClr val="1F3B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395" name="TextBox 15394"/>
          <p:cNvSpPr txBox="1"/>
          <p:nvPr/>
        </p:nvSpPr>
        <p:spPr>
          <a:xfrm>
            <a:off x="411480" y="5788152"/>
            <a:ext cx="1691639" cy="493776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≈234 B</a:t>
            </a:r>
          </a:p>
          <a:p>
            <a:pPr algn="ctr"/>
            <a:r>
              <a:rPr sz="900" b="0" i="0">
                <a:solidFill>
                  <a:srgbClr val="DCE6F5"/>
                </a:solidFill>
                <a:latin typeface="Calibri"/>
              </a:rPr>
              <a:t>per spoken sentence</a:t>
            </a:r>
          </a:p>
        </p:txBody>
      </p:sp>
      <p:sp>
        <p:nvSpPr>
          <p:cNvPr id="15396" name="Rounded Rectangle 15395"/>
          <p:cNvSpPr/>
          <p:nvPr/>
        </p:nvSpPr>
        <p:spPr>
          <a:xfrm>
            <a:off x="2194560" y="5788152"/>
            <a:ext cx="1691639" cy="493776"/>
          </a:xfrm>
          <a:prstGeom prst="roundRect">
            <a:avLst>
              <a:gd name="adj" fmla="val 30000"/>
            </a:avLst>
          </a:prstGeom>
          <a:solidFill>
            <a:srgbClr val="1F3B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397" name="TextBox 15396"/>
          <p:cNvSpPr txBox="1"/>
          <p:nvPr/>
        </p:nvSpPr>
        <p:spPr>
          <a:xfrm>
            <a:off x="2194560" y="5788152"/>
            <a:ext cx="1691639" cy="493776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30× smaller</a:t>
            </a:r>
          </a:p>
          <a:p>
            <a:pPr algn="ctr"/>
            <a:r>
              <a:rPr sz="900" b="0" i="0">
                <a:solidFill>
                  <a:srgbClr val="DCE6F5"/>
                </a:solidFill>
                <a:latin typeface="Calibri"/>
              </a:rPr>
              <a:t>than Opus 16 kbps</a:t>
            </a:r>
          </a:p>
        </p:txBody>
      </p:sp>
      <p:sp>
        <p:nvSpPr>
          <p:cNvPr id="15398" name="Rounded Rectangle 15397"/>
          <p:cNvSpPr/>
          <p:nvPr/>
        </p:nvSpPr>
        <p:spPr>
          <a:xfrm>
            <a:off x="3977639" y="5788152"/>
            <a:ext cx="1691639" cy="493776"/>
          </a:xfrm>
          <a:prstGeom prst="roundRect">
            <a:avLst>
              <a:gd name="adj" fmla="val 30000"/>
            </a:avLst>
          </a:prstGeom>
          <a:solidFill>
            <a:srgbClr val="1F3B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399" name="TextBox 15398"/>
          <p:cNvSpPr txBox="1"/>
          <p:nvPr/>
        </p:nvSpPr>
        <p:spPr>
          <a:xfrm>
            <a:off x="3977639" y="5788152"/>
            <a:ext cx="1691639" cy="493776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120× smaller</a:t>
            </a:r>
          </a:p>
          <a:p>
            <a:pPr algn="ctr"/>
            <a:r>
              <a:rPr sz="900" b="0" i="0">
                <a:solidFill>
                  <a:srgbClr val="DCE6F5"/>
                </a:solidFill>
                <a:latin typeface="Calibri"/>
              </a:rPr>
              <a:t>than 64 kbps voice</a:t>
            </a:r>
          </a:p>
        </p:txBody>
      </p:sp>
      <p:pic>
        <p:nvPicPr>
          <p:cNvPr id="15400" name="Picture 15399" descr="check_g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943600" y="2926080"/>
            <a:ext cx="274320" cy="274320"/>
          </a:xfrm>
          <a:prstGeom prst="rect">
            <a:avLst/>
          </a:prstGeom>
        </p:spPr>
      </p:pic>
      <p:sp>
        <p:nvSpPr>
          <p:cNvPr id="15401" name="TextBox 15400"/>
          <p:cNvSpPr txBox="1"/>
          <p:nvPr/>
        </p:nvSpPr>
        <p:spPr>
          <a:xfrm>
            <a:off x="6291072" y="2907792"/>
            <a:ext cx="5486400" cy="32918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500" b="1" i="0">
                <a:solidFill>
                  <a:srgbClr val="1F3B73"/>
                </a:solidFill>
                <a:latin typeface="Calibri"/>
              </a:rPr>
              <a:t>How it addresses the problem</a:t>
            </a:r>
          </a:p>
        </p:txBody>
      </p:sp>
      <p:pic>
        <p:nvPicPr>
          <p:cNvPr id="15402" name="Picture 15401" descr="check_g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980176" y="3328416"/>
            <a:ext cx="201168" cy="201168"/>
          </a:xfrm>
          <a:prstGeom prst="rect">
            <a:avLst/>
          </a:prstGeom>
        </p:spPr>
      </p:pic>
      <p:sp>
        <p:nvSpPr>
          <p:cNvPr id="15403" name="TextBox 15402"/>
          <p:cNvSpPr txBox="1"/>
          <p:nvPr/>
        </p:nvSpPr>
        <p:spPr>
          <a:xfrm>
            <a:off x="6272784" y="3273552"/>
            <a:ext cx="5504688" cy="310896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150" b="1" i="0">
                <a:solidFill>
                  <a:srgbClr val="1F3B73"/>
                </a:solidFill>
                <a:latin typeface="Calibri"/>
              </a:rPr>
              <a:t>Low bitrate: </a:t>
            </a:r>
            <a:r>
              <a:rPr sz="1150" b="0" i="0">
                <a:solidFill>
                  <a:srgbClr val="1E293B"/>
                </a:solidFill>
                <a:latin typeface="Calibri"/>
              </a:rPr>
              <a:t>one sentence is ≈234 B (≈0.5 kbps) instead of &gt;64 kbps streamed audio</a:t>
            </a:r>
          </a:p>
        </p:txBody>
      </p:sp>
      <p:pic>
        <p:nvPicPr>
          <p:cNvPr id="15404" name="Picture 15403" descr="check_g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980176" y="3657600"/>
            <a:ext cx="201168" cy="201168"/>
          </a:xfrm>
          <a:prstGeom prst="rect">
            <a:avLst/>
          </a:prstGeom>
        </p:spPr>
      </p:pic>
      <p:sp>
        <p:nvSpPr>
          <p:cNvPr id="15405" name="TextBox 15404"/>
          <p:cNvSpPr txBox="1"/>
          <p:nvPr/>
        </p:nvSpPr>
        <p:spPr>
          <a:xfrm>
            <a:off x="6272784" y="3602736"/>
            <a:ext cx="5504688" cy="310896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150" b="1" i="0">
                <a:solidFill>
                  <a:srgbClr val="1F3B73"/>
                </a:solidFill>
                <a:latin typeface="Calibri"/>
              </a:rPr>
              <a:t>No network: </a:t>
            </a:r>
            <a:r>
              <a:rPr sz="1150" b="0" i="0">
                <a:solidFill>
                  <a:srgbClr val="1E293B"/>
                </a:solidFill>
                <a:latin typeface="Calibri"/>
              </a:rPr>
              <a:t>phones relay for each other; no tower, internet, SIM or server</a:t>
            </a:r>
          </a:p>
        </p:txBody>
      </p:sp>
      <p:pic>
        <p:nvPicPr>
          <p:cNvPr id="15406" name="Picture 15405" descr="check_g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980176" y="3986783"/>
            <a:ext cx="201168" cy="201168"/>
          </a:xfrm>
          <a:prstGeom prst="rect">
            <a:avLst/>
          </a:prstGeom>
        </p:spPr>
      </p:pic>
      <p:sp>
        <p:nvSpPr>
          <p:cNvPr id="15407" name="TextBox 15406"/>
          <p:cNvSpPr txBox="1"/>
          <p:nvPr/>
        </p:nvSpPr>
        <p:spPr>
          <a:xfrm>
            <a:off x="6272784" y="3931920"/>
            <a:ext cx="5504688" cy="310896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150" b="1" i="0">
                <a:solidFill>
                  <a:srgbClr val="1F3B73"/>
                </a:solidFill>
                <a:latin typeface="Calibri"/>
              </a:rPr>
              <a:t>Inclusive: </a:t>
            </a:r>
            <a:r>
              <a:rPr sz="1150" b="0" i="0">
                <a:solidFill>
                  <a:srgbClr val="1E293B"/>
                </a:solidFill>
                <a:latin typeface="Calibri"/>
              </a:rPr>
              <a:t>people who cannot read still hear the message, in their own language</a:t>
            </a:r>
          </a:p>
        </p:txBody>
      </p:sp>
      <p:pic>
        <p:nvPicPr>
          <p:cNvPr id="15408" name="Picture 15407" descr="check_g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980176" y="4315968"/>
            <a:ext cx="201168" cy="201168"/>
          </a:xfrm>
          <a:prstGeom prst="rect">
            <a:avLst/>
          </a:prstGeom>
        </p:spPr>
      </p:pic>
      <p:sp>
        <p:nvSpPr>
          <p:cNvPr id="15409" name="TextBox 15408"/>
          <p:cNvSpPr txBox="1"/>
          <p:nvPr/>
        </p:nvSpPr>
        <p:spPr>
          <a:xfrm>
            <a:off x="6272784" y="4261104"/>
            <a:ext cx="5504688" cy="310896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150" b="1" i="0">
                <a:solidFill>
                  <a:srgbClr val="1F3B73"/>
                </a:solidFill>
                <a:latin typeface="Calibri"/>
              </a:rPr>
              <a:t>Low-end ready: </a:t>
            </a:r>
            <a:r>
              <a:rPr sz="1150" b="0" i="0">
                <a:solidFill>
                  <a:srgbClr val="1E293B"/>
                </a:solidFill>
                <a:latin typeface="Calibri"/>
              </a:rPr>
              <a:t>int8 models, one language in RAM, runs on 3 GB Android phones</a:t>
            </a:r>
          </a:p>
        </p:txBody>
      </p:sp>
      <p:pic>
        <p:nvPicPr>
          <p:cNvPr id="15410" name="Picture 15409" descr="rocket_o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943600" y="4645151"/>
            <a:ext cx="274320" cy="274320"/>
          </a:xfrm>
          <a:prstGeom prst="rect">
            <a:avLst/>
          </a:prstGeom>
        </p:spPr>
      </p:pic>
      <p:sp>
        <p:nvSpPr>
          <p:cNvPr id="15411" name="TextBox 15410"/>
          <p:cNvSpPr txBox="1"/>
          <p:nvPr/>
        </p:nvSpPr>
        <p:spPr>
          <a:xfrm>
            <a:off x="6291072" y="4626864"/>
            <a:ext cx="5486400" cy="32918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500" b="1" i="0">
                <a:solidFill>
                  <a:srgbClr val="1F3B73"/>
                </a:solidFill>
                <a:latin typeface="Calibri"/>
              </a:rPr>
              <a:t>Innovation and uniqueness</a:t>
            </a:r>
          </a:p>
        </p:txBody>
      </p:sp>
      <p:sp>
        <p:nvSpPr>
          <p:cNvPr id="15412" name="Rounded Rectangle 15411"/>
          <p:cNvSpPr/>
          <p:nvPr/>
        </p:nvSpPr>
        <p:spPr>
          <a:xfrm>
            <a:off x="5943600" y="5001768"/>
            <a:ext cx="2862072" cy="603504"/>
          </a:xfrm>
          <a:prstGeom prst="roundRect">
            <a:avLst>
              <a:gd name="adj" fmla="val 16000"/>
            </a:avLst>
          </a:prstGeom>
          <a:solidFill>
            <a:srgbClr val="F4F6F9"/>
          </a:solidFill>
          <a:ln w="9525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413" name="Oval 15412"/>
          <p:cNvSpPr/>
          <p:nvPr/>
        </p:nvSpPr>
        <p:spPr>
          <a:xfrm>
            <a:off x="6035040" y="5111496"/>
            <a:ext cx="384048" cy="384048"/>
          </a:xfrm>
          <a:prstGeom prst="ellipse">
            <a:avLst/>
          </a:prstGeom>
          <a:solidFill>
            <a:srgbClr val="E871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5414" name="Picture 15413" descr="wave_w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119530" y="5195986"/>
            <a:ext cx="215066" cy="215066"/>
          </a:xfrm>
          <a:prstGeom prst="rect">
            <a:avLst/>
          </a:prstGeom>
        </p:spPr>
      </p:pic>
      <p:sp>
        <p:nvSpPr>
          <p:cNvPr id="15415" name="TextBox 15414"/>
          <p:cNvSpPr txBox="1"/>
          <p:nvPr/>
        </p:nvSpPr>
        <p:spPr>
          <a:xfrm>
            <a:off x="6510528" y="5056631"/>
            <a:ext cx="2221991" cy="256032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150" b="1" i="0">
                <a:solidFill>
                  <a:srgbClr val="1F3B73"/>
                </a:solidFill>
                <a:latin typeface="Calibri"/>
              </a:rPr>
              <a:t>Semantic radio</a:t>
            </a:r>
          </a:p>
        </p:txBody>
      </p:sp>
      <p:sp>
        <p:nvSpPr>
          <p:cNvPr id="15416" name="TextBox 15415"/>
          <p:cNvSpPr txBox="1"/>
          <p:nvPr/>
        </p:nvSpPr>
        <p:spPr>
          <a:xfrm>
            <a:off x="6510528" y="5303520"/>
            <a:ext cx="2221991" cy="2743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950" b="0" i="0">
                <a:solidFill>
                  <a:srgbClr val="5B6B7F"/>
                </a:solidFill>
                <a:latin typeface="Calibri"/>
              </a:rPr>
              <a:t>Sends meaning + prosody, not the waveform</a:t>
            </a:r>
          </a:p>
        </p:txBody>
      </p:sp>
      <p:sp>
        <p:nvSpPr>
          <p:cNvPr id="15417" name="Rounded Rectangle 15416"/>
          <p:cNvSpPr/>
          <p:nvPr/>
        </p:nvSpPr>
        <p:spPr>
          <a:xfrm>
            <a:off x="8915400" y="5001768"/>
            <a:ext cx="2862072" cy="603504"/>
          </a:xfrm>
          <a:prstGeom prst="roundRect">
            <a:avLst>
              <a:gd name="adj" fmla="val 16000"/>
            </a:avLst>
          </a:prstGeom>
          <a:solidFill>
            <a:srgbClr val="F4F6F9"/>
          </a:solidFill>
          <a:ln w="9525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418" name="Oval 15417"/>
          <p:cNvSpPr/>
          <p:nvPr/>
        </p:nvSpPr>
        <p:spPr>
          <a:xfrm>
            <a:off x="9006840" y="5111496"/>
            <a:ext cx="384048" cy="384048"/>
          </a:xfrm>
          <a:prstGeom prst="ellipse">
            <a:avLst/>
          </a:prstGeom>
          <a:solidFill>
            <a:srgbClr val="E871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5419" name="Picture 15418" descr="alert_w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091330" y="5195986"/>
            <a:ext cx="215066" cy="215066"/>
          </a:xfrm>
          <a:prstGeom prst="rect">
            <a:avLst/>
          </a:prstGeom>
        </p:spPr>
      </p:pic>
      <p:sp>
        <p:nvSpPr>
          <p:cNvPr id="15420" name="TextBox 15419"/>
          <p:cNvSpPr txBox="1"/>
          <p:nvPr/>
        </p:nvSpPr>
        <p:spPr>
          <a:xfrm>
            <a:off x="9482328" y="5056631"/>
            <a:ext cx="2221991" cy="256032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150" b="1" i="0">
                <a:solidFill>
                  <a:srgbClr val="1F3B73"/>
                </a:solidFill>
                <a:latin typeface="Calibri"/>
              </a:rPr>
              <a:t>Alert-first mesh</a:t>
            </a:r>
          </a:p>
        </p:txBody>
      </p:sp>
      <p:sp>
        <p:nvSpPr>
          <p:cNvPr id="15421" name="TextBox 15420"/>
          <p:cNvSpPr txBox="1"/>
          <p:nvPr/>
        </p:nvSpPr>
        <p:spPr>
          <a:xfrm>
            <a:off x="9482328" y="5303520"/>
            <a:ext cx="2221991" cy="2743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950" b="0" i="0">
                <a:solidFill>
                  <a:srgbClr val="5B6B7F"/>
                </a:solidFill>
                <a:latin typeface="Calibri"/>
              </a:rPr>
              <a:t>Floods all hops; loud until acknowledged</a:t>
            </a:r>
          </a:p>
        </p:txBody>
      </p:sp>
      <p:sp>
        <p:nvSpPr>
          <p:cNvPr id="15422" name="Rounded Rectangle 15421"/>
          <p:cNvSpPr/>
          <p:nvPr/>
        </p:nvSpPr>
        <p:spPr>
          <a:xfrm>
            <a:off x="5943600" y="5678424"/>
            <a:ext cx="2862072" cy="603504"/>
          </a:xfrm>
          <a:prstGeom prst="roundRect">
            <a:avLst>
              <a:gd name="adj" fmla="val 16000"/>
            </a:avLst>
          </a:prstGeom>
          <a:solidFill>
            <a:srgbClr val="F4F6F9"/>
          </a:solidFill>
          <a:ln w="9525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423" name="Oval 15422"/>
          <p:cNvSpPr/>
          <p:nvPr/>
        </p:nvSpPr>
        <p:spPr>
          <a:xfrm>
            <a:off x="6035040" y="5788152"/>
            <a:ext cx="384048" cy="384048"/>
          </a:xfrm>
          <a:prstGeom prst="ellipse">
            <a:avLst/>
          </a:prstGeom>
          <a:solidFill>
            <a:srgbClr val="1F3B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5424" name="Picture 15423" descr="lock_w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119530" y="5872642"/>
            <a:ext cx="215066" cy="215066"/>
          </a:xfrm>
          <a:prstGeom prst="rect">
            <a:avLst/>
          </a:prstGeom>
        </p:spPr>
      </p:pic>
      <p:sp>
        <p:nvSpPr>
          <p:cNvPr id="15425" name="TextBox 15424"/>
          <p:cNvSpPr txBox="1"/>
          <p:nvPr/>
        </p:nvSpPr>
        <p:spPr>
          <a:xfrm>
            <a:off x="6510528" y="5733288"/>
            <a:ext cx="2221991" cy="256032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150" b="1" i="0">
                <a:solidFill>
                  <a:srgbClr val="1F3B73"/>
                </a:solidFill>
                <a:latin typeface="Calibri"/>
              </a:rPr>
              <a:t>Tamper-proof</a:t>
            </a:r>
          </a:p>
        </p:txBody>
      </p:sp>
      <p:sp>
        <p:nvSpPr>
          <p:cNvPr id="15426" name="TextBox 15425"/>
          <p:cNvSpPr txBox="1"/>
          <p:nvPr/>
        </p:nvSpPr>
        <p:spPr>
          <a:xfrm>
            <a:off x="6510528" y="5980176"/>
            <a:ext cx="2221991" cy="2743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950" b="0" i="0">
                <a:solidFill>
                  <a:srgbClr val="5B6B7F"/>
                </a:solidFill>
                <a:latin typeface="Calibri"/>
              </a:rPr>
              <a:t>Signed packets; encrypted private messages</a:t>
            </a:r>
          </a:p>
        </p:txBody>
      </p:sp>
      <p:sp>
        <p:nvSpPr>
          <p:cNvPr id="15427" name="Rounded Rectangle 15426"/>
          <p:cNvSpPr/>
          <p:nvPr/>
        </p:nvSpPr>
        <p:spPr>
          <a:xfrm>
            <a:off x="8915400" y="5678424"/>
            <a:ext cx="2862072" cy="603504"/>
          </a:xfrm>
          <a:prstGeom prst="roundRect">
            <a:avLst>
              <a:gd name="adj" fmla="val 16000"/>
            </a:avLst>
          </a:prstGeom>
          <a:solidFill>
            <a:srgbClr val="F4F6F9"/>
          </a:solidFill>
          <a:ln w="9525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428" name="Oval 15427"/>
          <p:cNvSpPr/>
          <p:nvPr/>
        </p:nvSpPr>
        <p:spPr>
          <a:xfrm>
            <a:off x="9006840" y="5788152"/>
            <a:ext cx="384048" cy="384048"/>
          </a:xfrm>
          <a:prstGeom prst="ellipse">
            <a:avLst/>
          </a:prstGeom>
          <a:solidFill>
            <a:srgbClr val="1E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5429" name="Picture 15428" descr="offline_w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091330" y="5872642"/>
            <a:ext cx="215066" cy="215066"/>
          </a:xfrm>
          <a:prstGeom prst="rect">
            <a:avLst/>
          </a:prstGeom>
        </p:spPr>
      </p:pic>
      <p:sp>
        <p:nvSpPr>
          <p:cNvPr id="15430" name="TextBox 15429"/>
          <p:cNvSpPr txBox="1"/>
          <p:nvPr/>
        </p:nvSpPr>
        <p:spPr>
          <a:xfrm>
            <a:off x="9482328" y="5733288"/>
            <a:ext cx="2221991" cy="256032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150" b="1" i="0">
                <a:solidFill>
                  <a:srgbClr val="1F3B73"/>
                </a:solidFill>
                <a:latin typeface="Calibri"/>
              </a:rPr>
              <a:t>100% on-device</a:t>
            </a:r>
          </a:p>
        </p:txBody>
      </p:sp>
      <p:sp>
        <p:nvSpPr>
          <p:cNvPr id="15431" name="TextBox 15430"/>
          <p:cNvSpPr txBox="1"/>
          <p:nvPr/>
        </p:nvSpPr>
        <p:spPr>
          <a:xfrm>
            <a:off x="9482328" y="5980176"/>
            <a:ext cx="2221991" cy="2743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950" b="0" i="0">
                <a:solidFill>
                  <a:srgbClr val="5B6B7F"/>
                </a:solidFill>
                <a:latin typeface="Calibri"/>
              </a:rPr>
              <a:t>No cloud API; language packs download once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28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z="1200" b="1">
                <a:solidFill>
                  <a:srgbClr val="1F3B73"/>
                </a:solidFill>
              </a:rPr>
              <a:t>Hexabits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7410" name="Picture 17409" descr="code_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1161288"/>
            <a:ext cx="274320" cy="274320"/>
          </a:xfrm>
          <a:prstGeom prst="rect">
            <a:avLst/>
          </a:prstGeom>
        </p:spPr>
      </p:pic>
      <p:sp>
        <p:nvSpPr>
          <p:cNvPr id="17411" name="TextBox 17410"/>
          <p:cNvSpPr txBox="1"/>
          <p:nvPr/>
        </p:nvSpPr>
        <p:spPr>
          <a:xfrm>
            <a:off x="758952" y="1143000"/>
            <a:ext cx="7104888" cy="32918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500" b="1" i="0">
                <a:solidFill>
                  <a:srgbClr val="1F3B73"/>
                </a:solidFill>
                <a:latin typeface="Calibri"/>
              </a:rPr>
              <a:t>Technologies to be used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411480" y="1536192"/>
            <a:ext cx="1417320" cy="329184"/>
          </a:xfrm>
          <a:prstGeom prst="roundRect">
            <a:avLst>
              <a:gd name="adj" fmla="val 50000"/>
            </a:avLst>
          </a:prstGeom>
          <a:solidFill>
            <a:srgbClr val="1F3B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3" name="TextBox 17412"/>
          <p:cNvSpPr txBox="1"/>
          <p:nvPr/>
        </p:nvSpPr>
        <p:spPr>
          <a:xfrm>
            <a:off x="411480" y="1536192"/>
            <a:ext cx="1417320" cy="32918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App &amp; UI</a:t>
            </a:r>
          </a:p>
        </p:txBody>
      </p:sp>
      <p:sp>
        <p:nvSpPr>
          <p:cNvPr id="17414" name="Rounded Rectangle 17413"/>
          <p:cNvSpPr/>
          <p:nvPr/>
        </p:nvSpPr>
        <p:spPr>
          <a:xfrm>
            <a:off x="1947672" y="1536192"/>
            <a:ext cx="1137513" cy="329184"/>
          </a:xfrm>
          <a:prstGeom prst="roundRect">
            <a:avLst>
              <a:gd name="adj" fmla="val 50000"/>
            </a:avLst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5" name="TextBox 17414"/>
          <p:cNvSpPr txBox="1"/>
          <p:nvPr/>
        </p:nvSpPr>
        <p:spPr>
          <a:xfrm>
            <a:off x="1947672" y="1536192"/>
            <a:ext cx="1137513" cy="32918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1000" b="0" i="0">
                <a:solidFill>
                  <a:srgbClr val="1E293B"/>
                </a:solidFill>
                <a:latin typeface="Calibri"/>
              </a:rPr>
              <a:t>Flutter (Dart)</a:t>
            </a:r>
          </a:p>
        </p:txBody>
      </p:sp>
      <p:sp>
        <p:nvSpPr>
          <p:cNvPr id="17416" name="Rounded Rectangle 17415"/>
          <p:cNvSpPr/>
          <p:nvPr/>
        </p:nvSpPr>
        <p:spPr>
          <a:xfrm>
            <a:off x="3176625" y="1536192"/>
            <a:ext cx="1680667" cy="329184"/>
          </a:xfrm>
          <a:prstGeom prst="roundRect">
            <a:avLst>
              <a:gd name="adj" fmla="val 50000"/>
            </a:avLst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7" name="TextBox 17416"/>
          <p:cNvSpPr txBox="1"/>
          <p:nvPr/>
        </p:nvSpPr>
        <p:spPr>
          <a:xfrm>
            <a:off x="3176625" y="1536192"/>
            <a:ext cx="1680667" cy="32918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1000" b="0" i="0">
                <a:solidFill>
                  <a:srgbClr val="1E293B"/>
                </a:solidFill>
                <a:latin typeface="Calibri"/>
              </a:rPr>
              <a:t>Kotlin (native Android)</a:t>
            </a:r>
          </a:p>
        </p:txBody>
      </p:sp>
      <p:sp>
        <p:nvSpPr>
          <p:cNvPr id="17418" name="Rounded Rectangle 17417"/>
          <p:cNvSpPr/>
          <p:nvPr/>
        </p:nvSpPr>
        <p:spPr>
          <a:xfrm>
            <a:off x="4948732" y="1536192"/>
            <a:ext cx="1439265" cy="329184"/>
          </a:xfrm>
          <a:prstGeom prst="roundRect">
            <a:avLst>
              <a:gd name="adj" fmla="val 50000"/>
            </a:avLst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9" name="TextBox 17418"/>
          <p:cNvSpPr txBox="1"/>
          <p:nvPr/>
        </p:nvSpPr>
        <p:spPr>
          <a:xfrm>
            <a:off x="4948732" y="1536192"/>
            <a:ext cx="1439265" cy="32918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1000" b="0" i="0">
                <a:solidFill>
                  <a:srgbClr val="1E293B"/>
                </a:solidFill>
                <a:latin typeface="Calibri"/>
              </a:rPr>
              <a:t>Pigeon typed bridge</a:t>
            </a:r>
          </a:p>
        </p:txBody>
      </p:sp>
      <p:sp>
        <p:nvSpPr>
          <p:cNvPr id="17420" name="Rounded Rectangle 17419"/>
          <p:cNvSpPr/>
          <p:nvPr/>
        </p:nvSpPr>
        <p:spPr>
          <a:xfrm>
            <a:off x="6479438" y="1536192"/>
            <a:ext cx="775411" cy="329184"/>
          </a:xfrm>
          <a:prstGeom prst="roundRect">
            <a:avLst>
              <a:gd name="adj" fmla="val 50000"/>
            </a:avLst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21" name="TextBox 17420"/>
          <p:cNvSpPr txBox="1"/>
          <p:nvPr/>
        </p:nvSpPr>
        <p:spPr>
          <a:xfrm>
            <a:off x="6479438" y="1536192"/>
            <a:ext cx="775411" cy="32918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1000" b="0" i="0">
                <a:solidFill>
                  <a:srgbClr val="1E293B"/>
                </a:solidFill>
                <a:latin typeface="Calibri"/>
              </a:rPr>
              <a:t>Riverpod</a:t>
            </a:r>
          </a:p>
        </p:txBody>
      </p:sp>
      <p:sp>
        <p:nvSpPr>
          <p:cNvPr id="17422" name="Rounded Rectangle 17421"/>
          <p:cNvSpPr/>
          <p:nvPr/>
        </p:nvSpPr>
        <p:spPr>
          <a:xfrm>
            <a:off x="411480" y="1938528"/>
            <a:ext cx="1417320" cy="329184"/>
          </a:xfrm>
          <a:prstGeom prst="roundRect">
            <a:avLst>
              <a:gd name="adj" fmla="val 50000"/>
            </a:avLst>
          </a:prstGeom>
          <a:solidFill>
            <a:srgbClr val="E871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23" name="TextBox 17422"/>
          <p:cNvSpPr txBox="1"/>
          <p:nvPr/>
        </p:nvSpPr>
        <p:spPr>
          <a:xfrm>
            <a:off x="411480" y="1938528"/>
            <a:ext cx="1417320" cy="32918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On-device AI</a:t>
            </a:r>
          </a:p>
        </p:txBody>
      </p:sp>
      <p:sp>
        <p:nvSpPr>
          <p:cNvPr id="17424" name="Rounded Rectangle 17423"/>
          <p:cNvSpPr/>
          <p:nvPr/>
        </p:nvSpPr>
        <p:spPr>
          <a:xfrm>
            <a:off x="1947672" y="1938528"/>
            <a:ext cx="1439265" cy="329184"/>
          </a:xfrm>
          <a:prstGeom prst="roundRect">
            <a:avLst>
              <a:gd name="adj" fmla="val 50000"/>
            </a:avLst>
          </a:prstGeom>
          <a:solidFill>
            <a:srgbClr val="FF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25" name="TextBox 17424"/>
          <p:cNvSpPr txBox="1"/>
          <p:nvPr/>
        </p:nvSpPr>
        <p:spPr>
          <a:xfrm>
            <a:off x="1947672" y="1938528"/>
            <a:ext cx="1439265" cy="32918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1000" b="0" i="0">
                <a:solidFill>
                  <a:srgbClr val="1E293B"/>
                </a:solidFill>
                <a:latin typeface="Calibri"/>
              </a:rPr>
              <a:t>sherpa-onnx runtime</a:t>
            </a:r>
          </a:p>
        </p:txBody>
      </p:sp>
      <p:sp>
        <p:nvSpPr>
          <p:cNvPr id="17426" name="Rounded Rectangle 17425"/>
          <p:cNvSpPr/>
          <p:nvPr/>
        </p:nvSpPr>
        <p:spPr>
          <a:xfrm>
            <a:off x="3478377" y="1938528"/>
            <a:ext cx="1801368" cy="329184"/>
          </a:xfrm>
          <a:prstGeom prst="roundRect">
            <a:avLst>
              <a:gd name="adj" fmla="val 50000"/>
            </a:avLst>
          </a:prstGeom>
          <a:solidFill>
            <a:srgbClr val="FF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27" name="TextBox 17426"/>
          <p:cNvSpPr txBox="1"/>
          <p:nvPr/>
        </p:nvSpPr>
        <p:spPr>
          <a:xfrm>
            <a:off x="3478377" y="1938528"/>
            <a:ext cx="1801368" cy="32918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1000" b="0" i="0">
                <a:solidFill>
                  <a:srgbClr val="1E293B"/>
                </a:solidFill>
                <a:latin typeface="Calibri"/>
              </a:rPr>
              <a:t>IndicConformer int8 (STT)</a:t>
            </a:r>
          </a:p>
        </p:txBody>
      </p:sp>
      <p:sp>
        <p:nvSpPr>
          <p:cNvPr id="17428" name="Rounded Rectangle 17427"/>
          <p:cNvSpPr/>
          <p:nvPr/>
        </p:nvSpPr>
        <p:spPr>
          <a:xfrm>
            <a:off x="5371185" y="1938528"/>
            <a:ext cx="1137513" cy="329184"/>
          </a:xfrm>
          <a:prstGeom prst="roundRect">
            <a:avLst>
              <a:gd name="adj" fmla="val 50000"/>
            </a:avLst>
          </a:prstGeom>
          <a:solidFill>
            <a:srgbClr val="FF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29" name="TextBox 17428"/>
          <p:cNvSpPr txBox="1"/>
          <p:nvPr/>
        </p:nvSpPr>
        <p:spPr>
          <a:xfrm>
            <a:off x="5371185" y="1938528"/>
            <a:ext cx="1137513" cy="32918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1000" b="0" i="0">
                <a:solidFill>
                  <a:srgbClr val="1E293B"/>
                </a:solidFill>
                <a:latin typeface="Calibri"/>
              </a:rPr>
              <a:t>MMS VITS (TTS)</a:t>
            </a:r>
          </a:p>
        </p:txBody>
      </p:sp>
      <p:sp>
        <p:nvSpPr>
          <p:cNvPr id="17430" name="Rounded Rectangle 17429"/>
          <p:cNvSpPr/>
          <p:nvPr/>
        </p:nvSpPr>
        <p:spPr>
          <a:xfrm>
            <a:off x="6600139" y="1938528"/>
            <a:ext cx="896112" cy="329184"/>
          </a:xfrm>
          <a:prstGeom prst="roundRect">
            <a:avLst>
              <a:gd name="adj" fmla="val 50000"/>
            </a:avLst>
          </a:prstGeom>
          <a:solidFill>
            <a:srgbClr val="FF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31" name="TextBox 17430"/>
          <p:cNvSpPr txBox="1"/>
          <p:nvPr/>
        </p:nvSpPr>
        <p:spPr>
          <a:xfrm>
            <a:off x="6600139" y="1938528"/>
            <a:ext cx="896112" cy="32918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1000" b="0" i="0">
                <a:solidFill>
                  <a:srgbClr val="1E293B"/>
                </a:solidFill>
                <a:latin typeface="Calibri"/>
              </a:rPr>
              <a:t>Silero VAD</a:t>
            </a:r>
          </a:p>
        </p:txBody>
      </p:sp>
      <p:sp>
        <p:nvSpPr>
          <p:cNvPr id="17432" name="Rounded Rectangle 17431"/>
          <p:cNvSpPr/>
          <p:nvPr/>
        </p:nvSpPr>
        <p:spPr>
          <a:xfrm>
            <a:off x="411480" y="2340864"/>
            <a:ext cx="1417320" cy="329184"/>
          </a:xfrm>
          <a:prstGeom prst="roundRect">
            <a:avLst>
              <a:gd name="adj" fmla="val 50000"/>
            </a:avLst>
          </a:prstGeom>
          <a:solidFill>
            <a:srgbClr val="1E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33" name="TextBox 17432"/>
          <p:cNvSpPr txBox="1"/>
          <p:nvPr/>
        </p:nvSpPr>
        <p:spPr>
          <a:xfrm>
            <a:off x="411480" y="2340864"/>
            <a:ext cx="1417320" cy="32918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Mesh &amp; security</a:t>
            </a:r>
          </a:p>
        </p:txBody>
      </p:sp>
      <p:sp>
        <p:nvSpPr>
          <p:cNvPr id="17434" name="Rounded Rectangle 17433"/>
          <p:cNvSpPr/>
          <p:nvPr/>
        </p:nvSpPr>
        <p:spPr>
          <a:xfrm>
            <a:off x="1947672" y="2340864"/>
            <a:ext cx="1077163" cy="329184"/>
          </a:xfrm>
          <a:prstGeom prst="roundRect">
            <a:avLst>
              <a:gd name="adj" fmla="val 50000"/>
            </a:avLst>
          </a:prstGeom>
          <a:solidFill>
            <a:srgbClr val="EA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35" name="TextBox 17434"/>
          <p:cNvSpPr txBox="1"/>
          <p:nvPr/>
        </p:nvSpPr>
        <p:spPr>
          <a:xfrm>
            <a:off x="1947672" y="2340864"/>
            <a:ext cx="1077163" cy="32918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1000" b="0" i="0">
                <a:solidFill>
                  <a:srgbClr val="1E293B"/>
                </a:solidFill>
                <a:latin typeface="Calibri"/>
              </a:rPr>
              <a:t>BLE GATT mesh</a:t>
            </a:r>
          </a:p>
        </p:txBody>
      </p:sp>
      <p:sp>
        <p:nvSpPr>
          <p:cNvPr id="17436" name="Rounded Rectangle 17435"/>
          <p:cNvSpPr/>
          <p:nvPr/>
        </p:nvSpPr>
        <p:spPr>
          <a:xfrm>
            <a:off x="3116275" y="2340864"/>
            <a:ext cx="1016812" cy="329184"/>
          </a:xfrm>
          <a:prstGeom prst="roundRect">
            <a:avLst>
              <a:gd name="adj" fmla="val 50000"/>
            </a:avLst>
          </a:prstGeom>
          <a:solidFill>
            <a:srgbClr val="EA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37" name="TextBox 17436"/>
          <p:cNvSpPr txBox="1"/>
          <p:nvPr/>
        </p:nvSpPr>
        <p:spPr>
          <a:xfrm>
            <a:off x="3116275" y="2340864"/>
            <a:ext cx="1016812" cy="32918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1000" b="0" i="0">
                <a:solidFill>
                  <a:srgbClr val="1E293B"/>
                </a:solidFill>
                <a:latin typeface="Calibri"/>
              </a:rPr>
              <a:t>Wi-Fi Direct</a:t>
            </a:r>
          </a:p>
        </p:txBody>
      </p:sp>
      <p:sp>
        <p:nvSpPr>
          <p:cNvPr id="17438" name="Rounded Rectangle 17437"/>
          <p:cNvSpPr/>
          <p:nvPr/>
        </p:nvSpPr>
        <p:spPr>
          <a:xfrm>
            <a:off x="4224528" y="2340864"/>
            <a:ext cx="1378915" cy="329184"/>
          </a:xfrm>
          <a:prstGeom prst="roundRect">
            <a:avLst>
              <a:gd name="adj" fmla="val 50000"/>
            </a:avLst>
          </a:prstGeom>
          <a:solidFill>
            <a:srgbClr val="EA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39" name="TextBox 17438"/>
          <p:cNvSpPr txBox="1"/>
          <p:nvPr/>
        </p:nvSpPr>
        <p:spPr>
          <a:xfrm>
            <a:off x="4224528" y="2340864"/>
            <a:ext cx="1378915" cy="32918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1000" b="0" i="0">
                <a:solidFill>
                  <a:srgbClr val="1E293B"/>
                </a:solidFill>
                <a:latin typeface="Calibri"/>
              </a:rPr>
              <a:t>Ed25519 signatures</a:t>
            </a:r>
          </a:p>
        </p:txBody>
      </p:sp>
      <p:sp>
        <p:nvSpPr>
          <p:cNvPr id="17440" name="Rounded Rectangle 17439"/>
          <p:cNvSpPr/>
          <p:nvPr/>
        </p:nvSpPr>
        <p:spPr>
          <a:xfrm>
            <a:off x="5694883" y="2340864"/>
            <a:ext cx="1318564" cy="329184"/>
          </a:xfrm>
          <a:prstGeom prst="roundRect">
            <a:avLst>
              <a:gd name="adj" fmla="val 50000"/>
            </a:avLst>
          </a:prstGeom>
          <a:solidFill>
            <a:srgbClr val="EA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41" name="TextBox 17440"/>
          <p:cNvSpPr txBox="1"/>
          <p:nvPr/>
        </p:nvSpPr>
        <p:spPr>
          <a:xfrm>
            <a:off x="5694883" y="2340864"/>
            <a:ext cx="1318564" cy="32918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1000" b="0" i="0">
                <a:solidFill>
                  <a:srgbClr val="1E293B"/>
                </a:solidFill>
                <a:latin typeface="Calibri"/>
              </a:rPr>
              <a:t>X25519 + ChaCha20</a:t>
            </a:r>
          </a:p>
        </p:txBody>
      </p:sp>
      <p:sp>
        <p:nvSpPr>
          <p:cNvPr id="17442" name="Rounded Rectangle 17441"/>
          <p:cNvSpPr/>
          <p:nvPr/>
        </p:nvSpPr>
        <p:spPr>
          <a:xfrm>
            <a:off x="411480" y="2743200"/>
            <a:ext cx="1417320" cy="329184"/>
          </a:xfrm>
          <a:prstGeom prst="roundRect">
            <a:avLst>
              <a:gd name="adj" fmla="val 50000"/>
            </a:avLst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43" name="TextBox 17442"/>
          <p:cNvSpPr txBox="1"/>
          <p:nvPr/>
        </p:nvSpPr>
        <p:spPr>
          <a:xfrm>
            <a:off x="411480" y="2743200"/>
            <a:ext cx="1417320" cy="32918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Model tooling</a:t>
            </a:r>
          </a:p>
        </p:txBody>
      </p:sp>
      <p:sp>
        <p:nvSpPr>
          <p:cNvPr id="17444" name="Rounded Rectangle 17443"/>
          <p:cNvSpPr/>
          <p:nvPr/>
        </p:nvSpPr>
        <p:spPr>
          <a:xfrm>
            <a:off x="1947672" y="2743200"/>
            <a:ext cx="654710" cy="329184"/>
          </a:xfrm>
          <a:prstGeom prst="roundRect">
            <a:avLst>
              <a:gd name="adj" fmla="val 50000"/>
            </a:avLst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45" name="TextBox 17444"/>
          <p:cNvSpPr txBox="1"/>
          <p:nvPr/>
        </p:nvSpPr>
        <p:spPr>
          <a:xfrm>
            <a:off x="1947672" y="2743200"/>
            <a:ext cx="654710" cy="32918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1000" b="0" i="0">
                <a:solidFill>
                  <a:srgbClr val="1E293B"/>
                </a:solidFill>
                <a:latin typeface="Calibri"/>
              </a:rPr>
              <a:t>Python</a:t>
            </a:r>
          </a:p>
        </p:txBody>
      </p:sp>
      <p:sp>
        <p:nvSpPr>
          <p:cNvPr id="17446" name="Rounded Rectangle 17445"/>
          <p:cNvSpPr/>
          <p:nvPr/>
        </p:nvSpPr>
        <p:spPr>
          <a:xfrm>
            <a:off x="2693822" y="2743200"/>
            <a:ext cx="1620316" cy="329184"/>
          </a:xfrm>
          <a:prstGeom prst="roundRect">
            <a:avLst>
              <a:gd name="adj" fmla="val 50000"/>
            </a:avLst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47" name="TextBox 17446"/>
          <p:cNvSpPr txBox="1"/>
          <p:nvPr/>
        </p:nvSpPr>
        <p:spPr>
          <a:xfrm>
            <a:off x="2693822" y="2743200"/>
            <a:ext cx="1620316" cy="32918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1000" b="0" i="0">
                <a:solidFill>
                  <a:srgbClr val="1E293B"/>
                </a:solidFill>
                <a:latin typeface="Calibri"/>
              </a:rPr>
              <a:t>ONNX int8 quantisation</a:t>
            </a:r>
          </a:p>
        </p:txBody>
      </p:sp>
      <p:sp>
        <p:nvSpPr>
          <p:cNvPr id="17448" name="Rounded Rectangle 17447"/>
          <p:cNvSpPr/>
          <p:nvPr/>
        </p:nvSpPr>
        <p:spPr>
          <a:xfrm>
            <a:off x="4405579" y="2743200"/>
            <a:ext cx="1016812" cy="329184"/>
          </a:xfrm>
          <a:prstGeom prst="roundRect">
            <a:avLst>
              <a:gd name="adj" fmla="val 50000"/>
            </a:avLst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49" name="TextBox 17448"/>
          <p:cNvSpPr txBox="1"/>
          <p:nvPr/>
        </p:nvSpPr>
        <p:spPr>
          <a:xfrm>
            <a:off x="4405579" y="2743200"/>
            <a:ext cx="1016812" cy="32918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1000" b="0" i="0">
                <a:solidFill>
                  <a:srgbClr val="1E293B"/>
                </a:solidFill>
                <a:latin typeface="Calibri"/>
              </a:rPr>
              <a:t>Google Colab</a:t>
            </a:r>
          </a:p>
        </p:txBody>
      </p:sp>
      <p:sp>
        <p:nvSpPr>
          <p:cNvPr id="17450" name="Rounded Rectangle 17449"/>
          <p:cNvSpPr/>
          <p:nvPr/>
        </p:nvSpPr>
        <p:spPr>
          <a:xfrm>
            <a:off x="5513831" y="2743200"/>
            <a:ext cx="1741017" cy="329184"/>
          </a:xfrm>
          <a:prstGeom prst="roundRect">
            <a:avLst>
              <a:gd name="adj" fmla="val 50000"/>
            </a:avLst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51" name="TextBox 17450"/>
          <p:cNvSpPr txBox="1"/>
          <p:nvPr/>
        </p:nvSpPr>
        <p:spPr>
          <a:xfrm>
            <a:off x="5513831" y="2743200"/>
            <a:ext cx="1741017" cy="32918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1000" b="0" i="0">
                <a:solidFill>
                  <a:srgbClr val="1E293B"/>
                </a:solidFill>
                <a:latin typeface="Calibri"/>
              </a:rPr>
              <a:t>Hugging Face model packs</a:t>
            </a:r>
          </a:p>
        </p:txBody>
      </p:sp>
      <p:pic>
        <p:nvPicPr>
          <p:cNvPr id="17452" name="Picture 17451" descr="route_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480" y="3236976"/>
            <a:ext cx="274320" cy="274320"/>
          </a:xfrm>
          <a:prstGeom prst="rect">
            <a:avLst/>
          </a:prstGeom>
        </p:spPr>
      </p:pic>
      <p:sp>
        <p:nvSpPr>
          <p:cNvPr id="17453" name="TextBox 17452"/>
          <p:cNvSpPr txBox="1"/>
          <p:nvPr/>
        </p:nvSpPr>
        <p:spPr>
          <a:xfrm>
            <a:off x="758952" y="3218688"/>
            <a:ext cx="7104888" cy="32918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500" b="1" i="0">
                <a:solidFill>
                  <a:srgbClr val="1F3B73"/>
                </a:solidFill>
                <a:latin typeface="Calibri"/>
              </a:rPr>
              <a:t>Methodology and process for implementation (flow)</a:t>
            </a:r>
          </a:p>
        </p:txBody>
      </p:sp>
      <p:sp>
        <p:nvSpPr>
          <p:cNvPr id="17454" name="TextBox 17453"/>
          <p:cNvSpPr txBox="1"/>
          <p:nvPr/>
        </p:nvSpPr>
        <p:spPr>
          <a:xfrm>
            <a:off x="411480" y="3547872"/>
            <a:ext cx="1097280" cy="1828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850" b="1" i="0">
                <a:solidFill>
                  <a:srgbClr val="1F3B73"/>
                </a:solidFill>
                <a:latin typeface="Calibri"/>
              </a:rPr>
              <a:t>PHONE A  ·  SENDER</a:t>
            </a:r>
          </a:p>
        </p:txBody>
      </p:sp>
      <p:sp>
        <p:nvSpPr>
          <p:cNvPr id="17455" name="Rounded Rectangle 17454"/>
          <p:cNvSpPr/>
          <p:nvPr/>
        </p:nvSpPr>
        <p:spPr>
          <a:xfrm>
            <a:off x="411480" y="3730752"/>
            <a:ext cx="1664208" cy="694944"/>
          </a:xfrm>
          <a:prstGeom prst="roundRect">
            <a:avLst>
              <a:gd name="adj" fmla="val 14000"/>
            </a:avLst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56" name="Picture 17455" descr="mic_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" y="3840480"/>
            <a:ext cx="274320" cy="274320"/>
          </a:xfrm>
          <a:prstGeom prst="rect">
            <a:avLst/>
          </a:prstGeom>
        </p:spPr>
      </p:pic>
      <p:sp>
        <p:nvSpPr>
          <p:cNvPr id="17457" name="TextBox 17456"/>
          <p:cNvSpPr txBox="1"/>
          <p:nvPr/>
        </p:nvSpPr>
        <p:spPr>
          <a:xfrm>
            <a:off x="822960" y="3767328"/>
            <a:ext cx="1207008" cy="2743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050" b="1" i="0">
                <a:solidFill>
                  <a:srgbClr val="1F3B73"/>
                </a:solidFill>
                <a:latin typeface="Calibri"/>
              </a:rPr>
              <a:t>Mic capture</a:t>
            </a:r>
          </a:p>
        </p:txBody>
      </p:sp>
      <p:sp>
        <p:nvSpPr>
          <p:cNvPr id="17458" name="TextBox 17457"/>
          <p:cNvSpPr txBox="1"/>
          <p:nvPr/>
        </p:nvSpPr>
        <p:spPr>
          <a:xfrm>
            <a:off x="521208" y="4059935"/>
            <a:ext cx="1499616" cy="34747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900" b="0" i="0">
                <a:solidFill>
                  <a:srgbClr val="5B6B7F"/>
                </a:solidFill>
                <a:latin typeface="Calibri"/>
              </a:rPr>
              <a:t>16 kHz mono, echo + noise cancel</a:t>
            </a:r>
          </a:p>
        </p:txBody>
      </p:sp>
      <p:sp>
        <p:nvSpPr>
          <p:cNvPr id="17459" name="Right Arrow 17458"/>
          <p:cNvSpPr/>
          <p:nvPr/>
        </p:nvSpPr>
        <p:spPr>
          <a:xfrm>
            <a:off x="2121408" y="4005072"/>
            <a:ext cx="173735" cy="146304"/>
          </a:xfrm>
          <a:prstGeom prst="rightArrow">
            <a:avLst/>
          </a:prstGeom>
          <a:solidFill>
            <a:srgbClr val="B8C4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60" name="Rounded Rectangle 17459"/>
          <p:cNvSpPr/>
          <p:nvPr/>
        </p:nvSpPr>
        <p:spPr>
          <a:xfrm>
            <a:off x="2340864" y="3730752"/>
            <a:ext cx="1664208" cy="694944"/>
          </a:xfrm>
          <a:prstGeom prst="roundRect">
            <a:avLst>
              <a:gd name="adj" fmla="val 14000"/>
            </a:avLst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61" name="Picture 17460" descr="wave_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32304" y="3840480"/>
            <a:ext cx="274320" cy="274320"/>
          </a:xfrm>
          <a:prstGeom prst="rect">
            <a:avLst/>
          </a:prstGeom>
        </p:spPr>
      </p:pic>
      <p:sp>
        <p:nvSpPr>
          <p:cNvPr id="17462" name="TextBox 17461"/>
          <p:cNvSpPr txBox="1"/>
          <p:nvPr/>
        </p:nvSpPr>
        <p:spPr>
          <a:xfrm>
            <a:off x="2752344" y="3767328"/>
            <a:ext cx="1207008" cy="2743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050" b="1" i="0">
                <a:solidFill>
                  <a:srgbClr val="1F3B73"/>
                </a:solidFill>
                <a:latin typeface="Calibri"/>
              </a:rPr>
              <a:t>Silero VAD</a:t>
            </a:r>
          </a:p>
        </p:txBody>
      </p:sp>
      <p:sp>
        <p:nvSpPr>
          <p:cNvPr id="17463" name="TextBox 17462"/>
          <p:cNvSpPr txBox="1"/>
          <p:nvPr/>
        </p:nvSpPr>
        <p:spPr>
          <a:xfrm>
            <a:off x="2450592" y="4059935"/>
            <a:ext cx="1499616" cy="34747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900" b="0" i="0">
                <a:solidFill>
                  <a:srgbClr val="5B6B7F"/>
                </a:solidFill>
                <a:latin typeface="Calibri"/>
              </a:rPr>
              <a:t>Pause = end of sentence</a:t>
            </a:r>
          </a:p>
        </p:txBody>
      </p:sp>
      <p:sp>
        <p:nvSpPr>
          <p:cNvPr id="17464" name="Right Arrow 17463"/>
          <p:cNvSpPr/>
          <p:nvPr/>
        </p:nvSpPr>
        <p:spPr>
          <a:xfrm>
            <a:off x="4050791" y="4005072"/>
            <a:ext cx="173735" cy="146304"/>
          </a:xfrm>
          <a:prstGeom prst="rightArrow">
            <a:avLst/>
          </a:prstGeom>
          <a:solidFill>
            <a:srgbClr val="B8C4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65" name="Rounded Rectangle 17464"/>
          <p:cNvSpPr/>
          <p:nvPr/>
        </p:nvSpPr>
        <p:spPr>
          <a:xfrm>
            <a:off x="4270248" y="3730752"/>
            <a:ext cx="1664208" cy="694944"/>
          </a:xfrm>
          <a:prstGeom prst="roundRect">
            <a:avLst>
              <a:gd name="adj" fmla="val 14000"/>
            </a:avLst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66" name="Picture 17465" descr="stt_n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61688" y="3840480"/>
            <a:ext cx="274320" cy="274320"/>
          </a:xfrm>
          <a:prstGeom prst="rect">
            <a:avLst/>
          </a:prstGeom>
        </p:spPr>
      </p:pic>
      <p:sp>
        <p:nvSpPr>
          <p:cNvPr id="17467" name="TextBox 17466"/>
          <p:cNvSpPr txBox="1"/>
          <p:nvPr/>
        </p:nvSpPr>
        <p:spPr>
          <a:xfrm>
            <a:off x="4681728" y="3767328"/>
            <a:ext cx="1207008" cy="2743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050" b="1" i="0">
                <a:solidFill>
                  <a:srgbClr val="1F3B73"/>
                </a:solidFill>
                <a:latin typeface="Calibri"/>
              </a:rPr>
              <a:t>IndicConformer STT</a:t>
            </a:r>
          </a:p>
        </p:txBody>
      </p:sp>
      <p:sp>
        <p:nvSpPr>
          <p:cNvPr id="17468" name="TextBox 17467"/>
          <p:cNvSpPr txBox="1"/>
          <p:nvPr/>
        </p:nvSpPr>
        <p:spPr>
          <a:xfrm>
            <a:off x="4379976" y="4059935"/>
            <a:ext cx="1499616" cy="34747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900" b="0" i="0">
                <a:solidFill>
                  <a:srgbClr val="5B6B7F"/>
                </a:solidFill>
                <a:latin typeface="Calibri"/>
              </a:rPr>
              <a:t>int8 CTC, one language resident</a:t>
            </a:r>
          </a:p>
        </p:txBody>
      </p:sp>
      <p:sp>
        <p:nvSpPr>
          <p:cNvPr id="17469" name="Right Arrow 17468"/>
          <p:cNvSpPr/>
          <p:nvPr/>
        </p:nvSpPr>
        <p:spPr>
          <a:xfrm>
            <a:off x="5980176" y="4005072"/>
            <a:ext cx="173735" cy="146304"/>
          </a:xfrm>
          <a:prstGeom prst="rightArrow">
            <a:avLst/>
          </a:prstGeom>
          <a:solidFill>
            <a:srgbClr val="B8C4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70" name="Rounded Rectangle 17469"/>
          <p:cNvSpPr/>
          <p:nvPr/>
        </p:nvSpPr>
        <p:spPr>
          <a:xfrm>
            <a:off x="6199632" y="3730752"/>
            <a:ext cx="1664208" cy="694944"/>
          </a:xfrm>
          <a:prstGeom prst="roundRect">
            <a:avLst>
              <a:gd name="adj" fmla="val 14000"/>
            </a:avLst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71" name="Picture 17470" descr="packet_n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91072" y="3840480"/>
            <a:ext cx="274320" cy="274320"/>
          </a:xfrm>
          <a:prstGeom prst="rect">
            <a:avLst/>
          </a:prstGeom>
        </p:spPr>
      </p:pic>
      <p:sp>
        <p:nvSpPr>
          <p:cNvPr id="17472" name="TextBox 17471"/>
          <p:cNvSpPr txBox="1"/>
          <p:nvPr/>
        </p:nvSpPr>
        <p:spPr>
          <a:xfrm>
            <a:off x="6611112" y="3767328"/>
            <a:ext cx="1207008" cy="2743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050" b="1" i="0">
                <a:solidFill>
                  <a:srgbClr val="1F3B73"/>
                </a:solidFill>
                <a:latin typeface="Calibri"/>
              </a:rPr>
              <a:t>Packetiser</a:t>
            </a:r>
          </a:p>
        </p:txBody>
      </p:sp>
      <p:sp>
        <p:nvSpPr>
          <p:cNvPr id="17473" name="TextBox 17472"/>
          <p:cNvSpPr txBox="1"/>
          <p:nvPr/>
        </p:nvSpPr>
        <p:spPr>
          <a:xfrm>
            <a:off x="6309360" y="4059935"/>
            <a:ext cx="1499616" cy="34747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900" b="0" i="0">
                <a:solidFill>
                  <a:srgbClr val="5B6B7F"/>
                </a:solidFill>
                <a:latin typeface="Calibri"/>
              </a:rPr>
              <a:t>Sign, fragment, TTL 7</a:t>
            </a:r>
          </a:p>
        </p:txBody>
      </p:sp>
      <p:sp>
        <p:nvSpPr>
          <p:cNvPr id="17474" name="Down Arrow 17473"/>
          <p:cNvSpPr/>
          <p:nvPr/>
        </p:nvSpPr>
        <p:spPr>
          <a:xfrm>
            <a:off x="6940296" y="4443984"/>
            <a:ext cx="182880" cy="182880"/>
          </a:xfrm>
          <a:prstGeom prst="downArrow">
            <a:avLst/>
          </a:prstGeom>
          <a:solidFill>
            <a:srgbClr val="B8C4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75" name="Rounded Rectangle 17474"/>
          <p:cNvSpPr/>
          <p:nvPr/>
        </p:nvSpPr>
        <p:spPr>
          <a:xfrm>
            <a:off x="411480" y="4626864"/>
            <a:ext cx="7452360" cy="420624"/>
          </a:xfrm>
          <a:prstGeom prst="roundRect">
            <a:avLst>
              <a:gd name="adj" fmla="val 50000"/>
            </a:avLst>
          </a:prstGeom>
          <a:solidFill>
            <a:srgbClr val="1F3B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76" name="Picture 17475" descr="bt_w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76072" y="4700016"/>
            <a:ext cx="274320" cy="274320"/>
          </a:xfrm>
          <a:prstGeom prst="rect">
            <a:avLst/>
          </a:prstGeom>
        </p:spPr>
      </p:pic>
      <p:pic>
        <p:nvPicPr>
          <p:cNvPr id="17477" name="Picture 17476" descr="wifi_w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86968" y="4700016"/>
            <a:ext cx="274320" cy="274320"/>
          </a:xfrm>
          <a:prstGeom prst="rect">
            <a:avLst/>
          </a:prstGeom>
        </p:spPr>
      </p:pic>
      <p:sp>
        <p:nvSpPr>
          <p:cNvPr id="17478" name="TextBox 17477"/>
          <p:cNvSpPr txBox="1"/>
          <p:nvPr/>
        </p:nvSpPr>
        <p:spPr>
          <a:xfrm>
            <a:off x="1280160" y="4626864"/>
            <a:ext cx="6446520" cy="42062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Mesh:  </a:t>
            </a:r>
            <a:r>
              <a:rPr sz="1050" b="0" i="0">
                <a:solidFill>
                  <a:srgbClr val="DCE6F5"/>
                </a:solidFill>
                <a:latin typeface="Calibri"/>
              </a:rPr>
              <a:t>verify → dedup → relay with jitter (≤7 hops) → store-and-forward outbox when no neighbour</a:t>
            </a:r>
          </a:p>
        </p:txBody>
      </p:sp>
      <p:sp>
        <p:nvSpPr>
          <p:cNvPr id="17479" name="Down Arrow 17478"/>
          <p:cNvSpPr/>
          <p:nvPr/>
        </p:nvSpPr>
        <p:spPr>
          <a:xfrm>
            <a:off x="1709928" y="5065776"/>
            <a:ext cx="182880" cy="182880"/>
          </a:xfrm>
          <a:prstGeom prst="downArrow">
            <a:avLst/>
          </a:prstGeom>
          <a:solidFill>
            <a:srgbClr val="B8C4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80" name="TextBox 17479"/>
          <p:cNvSpPr txBox="1"/>
          <p:nvPr/>
        </p:nvSpPr>
        <p:spPr>
          <a:xfrm>
            <a:off x="411480" y="5157216"/>
            <a:ext cx="1097280" cy="1828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850" b="1" i="0">
                <a:solidFill>
                  <a:srgbClr val="1E8E3E"/>
                </a:solidFill>
                <a:latin typeface="Calibri"/>
              </a:rPr>
              <a:t>PHONE B  ·  RECEIVER</a:t>
            </a:r>
          </a:p>
        </p:txBody>
      </p:sp>
      <p:sp>
        <p:nvSpPr>
          <p:cNvPr id="17481" name="Rounded Rectangle 17480"/>
          <p:cNvSpPr/>
          <p:nvPr/>
        </p:nvSpPr>
        <p:spPr>
          <a:xfrm>
            <a:off x="411480" y="5340096"/>
            <a:ext cx="1664208" cy="694944"/>
          </a:xfrm>
          <a:prstGeom prst="roundRect">
            <a:avLst>
              <a:gd name="adj" fmla="val 14000"/>
            </a:avLst>
          </a:prstGeom>
          <a:solidFill>
            <a:srgbClr val="EA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82" name="Picture 17481" descr="shield_g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02920" y="5449824"/>
            <a:ext cx="274320" cy="274320"/>
          </a:xfrm>
          <a:prstGeom prst="rect">
            <a:avLst/>
          </a:prstGeom>
        </p:spPr>
      </p:pic>
      <p:sp>
        <p:nvSpPr>
          <p:cNvPr id="17483" name="TextBox 17482"/>
          <p:cNvSpPr txBox="1"/>
          <p:nvPr/>
        </p:nvSpPr>
        <p:spPr>
          <a:xfrm>
            <a:off x="822960" y="5376672"/>
            <a:ext cx="1207008" cy="2743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050" b="1" i="0">
                <a:solidFill>
                  <a:srgbClr val="1F3B73"/>
                </a:solidFill>
                <a:latin typeface="Calibri"/>
              </a:rPr>
              <a:t>Verify + reassemble</a:t>
            </a:r>
          </a:p>
        </p:txBody>
      </p:sp>
      <p:sp>
        <p:nvSpPr>
          <p:cNvPr id="17484" name="TextBox 17483"/>
          <p:cNvSpPr txBox="1"/>
          <p:nvPr/>
        </p:nvSpPr>
        <p:spPr>
          <a:xfrm>
            <a:off x="521208" y="5669280"/>
            <a:ext cx="1499616" cy="34747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900" b="0" i="0">
                <a:solidFill>
                  <a:srgbClr val="5B6B7F"/>
                </a:solidFill>
                <a:latin typeface="Calibri"/>
              </a:rPr>
              <a:t>Drop unsigned or replayed</a:t>
            </a:r>
          </a:p>
        </p:txBody>
      </p:sp>
      <p:sp>
        <p:nvSpPr>
          <p:cNvPr id="17485" name="Right Arrow 17484"/>
          <p:cNvSpPr/>
          <p:nvPr/>
        </p:nvSpPr>
        <p:spPr>
          <a:xfrm>
            <a:off x="2121408" y="5614416"/>
            <a:ext cx="173735" cy="146304"/>
          </a:xfrm>
          <a:prstGeom prst="rightArrow">
            <a:avLst/>
          </a:prstGeom>
          <a:solidFill>
            <a:srgbClr val="B8C4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86" name="Rounded Rectangle 17485"/>
          <p:cNvSpPr/>
          <p:nvPr/>
        </p:nvSpPr>
        <p:spPr>
          <a:xfrm>
            <a:off x="2340864" y="5340096"/>
            <a:ext cx="1664208" cy="694944"/>
          </a:xfrm>
          <a:prstGeom prst="roundRect">
            <a:avLst>
              <a:gd name="adj" fmla="val 14000"/>
            </a:avLst>
          </a:prstGeom>
          <a:solidFill>
            <a:srgbClr val="EA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87" name="Picture 17486" descr="speaker_g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432304" y="5449824"/>
            <a:ext cx="274320" cy="274320"/>
          </a:xfrm>
          <a:prstGeom prst="rect">
            <a:avLst/>
          </a:prstGeom>
        </p:spPr>
      </p:pic>
      <p:sp>
        <p:nvSpPr>
          <p:cNvPr id="17488" name="TextBox 17487"/>
          <p:cNvSpPr txBox="1"/>
          <p:nvPr/>
        </p:nvSpPr>
        <p:spPr>
          <a:xfrm>
            <a:off x="2752344" y="5376672"/>
            <a:ext cx="1207008" cy="2743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050" b="1" i="0">
                <a:solidFill>
                  <a:srgbClr val="1F3B73"/>
                </a:solidFill>
                <a:latin typeface="Calibri"/>
              </a:rPr>
              <a:t>MMS VITS TTS</a:t>
            </a:r>
          </a:p>
        </p:txBody>
      </p:sp>
      <p:sp>
        <p:nvSpPr>
          <p:cNvPr id="17489" name="TextBox 17488"/>
          <p:cNvSpPr txBox="1"/>
          <p:nvPr/>
        </p:nvSpPr>
        <p:spPr>
          <a:xfrm>
            <a:off x="2450592" y="5669280"/>
            <a:ext cx="1499616" cy="34747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900" b="0" i="0">
                <a:solidFill>
                  <a:srgbClr val="5B6B7F"/>
                </a:solidFill>
                <a:latin typeface="Calibri"/>
              </a:rPr>
              <a:t>Voice in sender's language</a:t>
            </a:r>
          </a:p>
        </p:txBody>
      </p:sp>
      <p:sp>
        <p:nvSpPr>
          <p:cNvPr id="17490" name="Right Arrow 17489"/>
          <p:cNvSpPr/>
          <p:nvPr/>
        </p:nvSpPr>
        <p:spPr>
          <a:xfrm>
            <a:off x="4050791" y="5614416"/>
            <a:ext cx="173735" cy="146304"/>
          </a:xfrm>
          <a:prstGeom prst="rightArrow">
            <a:avLst/>
          </a:prstGeom>
          <a:solidFill>
            <a:srgbClr val="B8C4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91" name="Rounded Rectangle 17490"/>
          <p:cNvSpPr/>
          <p:nvPr/>
        </p:nvSpPr>
        <p:spPr>
          <a:xfrm>
            <a:off x="4270248" y="5340096"/>
            <a:ext cx="1664208" cy="694944"/>
          </a:xfrm>
          <a:prstGeom prst="roundRect">
            <a:avLst>
              <a:gd name="adj" fmla="val 14000"/>
            </a:avLst>
          </a:prstGeom>
          <a:solidFill>
            <a:srgbClr val="EA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92" name="Picture 17491" descr="hearing_g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361688" y="5449824"/>
            <a:ext cx="274320" cy="274320"/>
          </a:xfrm>
          <a:prstGeom prst="rect">
            <a:avLst/>
          </a:prstGeom>
        </p:spPr>
      </p:pic>
      <p:sp>
        <p:nvSpPr>
          <p:cNvPr id="17493" name="TextBox 17492"/>
          <p:cNvSpPr txBox="1"/>
          <p:nvPr/>
        </p:nvSpPr>
        <p:spPr>
          <a:xfrm>
            <a:off x="4681728" y="5376672"/>
            <a:ext cx="1207008" cy="2743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050" b="1" i="0">
                <a:solidFill>
                  <a:srgbClr val="1F3B73"/>
                </a:solidFill>
                <a:latin typeface="Calibri"/>
              </a:rPr>
              <a:t>Voice note</a:t>
            </a:r>
          </a:p>
        </p:txBody>
      </p:sp>
      <p:sp>
        <p:nvSpPr>
          <p:cNvPr id="17494" name="TextBox 17493"/>
          <p:cNvSpPr txBox="1"/>
          <p:nvPr/>
        </p:nvSpPr>
        <p:spPr>
          <a:xfrm>
            <a:off x="4379976" y="5669280"/>
            <a:ext cx="1499616" cy="34747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900" b="0" i="0">
                <a:solidFill>
                  <a:srgbClr val="5B6B7F"/>
                </a:solidFill>
                <a:latin typeface="Calibri"/>
              </a:rPr>
              <a:t>Text shown with audio</a:t>
            </a:r>
          </a:p>
        </p:txBody>
      </p:sp>
      <p:sp>
        <p:nvSpPr>
          <p:cNvPr id="17495" name="Right Arrow 17494"/>
          <p:cNvSpPr/>
          <p:nvPr/>
        </p:nvSpPr>
        <p:spPr>
          <a:xfrm>
            <a:off x="5980176" y="5614416"/>
            <a:ext cx="173735" cy="146304"/>
          </a:xfrm>
          <a:prstGeom prst="rightArrow">
            <a:avLst/>
          </a:prstGeom>
          <a:solidFill>
            <a:srgbClr val="B8C4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96" name="Rounded Rectangle 17495"/>
          <p:cNvSpPr/>
          <p:nvPr/>
        </p:nvSpPr>
        <p:spPr>
          <a:xfrm>
            <a:off x="6199632" y="5340096"/>
            <a:ext cx="1664208" cy="694944"/>
          </a:xfrm>
          <a:prstGeom prst="roundRect">
            <a:avLst>
              <a:gd name="adj" fmla="val 14000"/>
            </a:avLst>
          </a:prstGeom>
          <a:solidFill>
            <a:srgbClr val="EA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97" name="Picture 17496" descr="alert_g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291072" y="5449824"/>
            <a:ext cx="274320" cy="274320"/>
          </a:xfrm>
          <a:prstGeom prst="rect">
            <a:avLst/>
          </a:prstGeom>
        </p:spPr>
      </p:pic>
      <p:sp>
        <p:nvSpPr>
          <p:cNvPr id="17498" name="TextBox 17497"/>
          <p:cNvSpPr txBox="1"/>
          <p:nvPr/>
        </p:nvSpPr>
        <p:spPr>
          <a:xfrm>
            <a:off x="6611112" y="5376672"/>
            <a:ext cx="1207008" cy="2743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050" b="1" i="0">
                <a:solidFill>
                  <a:srgbClr val="1F3B73"/>
                </a:solidFill>
                <a:latin typeface="Calibri"/>
              </a:rPr>
              <a:t>ALERT mode</a:t>
            </a:r>
          </a:p>
        </p:txBody>
      </p:sp>
      <p:sp>
        <p:nvSpPr>
          <p:cNvPr id="17499" name="TextBox 17498"/>
          <p:cNvSpPr txBox="1"/>
          <p:nvPr/>
        </p:nvSpPr>
        <p:spPr>
          <a:xfrm>
            <a:off x="6309360" y="5669280"/>
            <a:ext cx="1499616" cy="34747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900" b="0" i="0">
                <a:solidFill>
                  <a:srgbClr val="5B6B7F"/>
                </a:solidFill>
                <a:latin typeface="Calibri"/>
              </a:rPr>
              <a:t>Alarm stream, max volume, x3</a:t>
            </a:r>
          </a:p>
        </p:txBody>
      </p:sp>
      <p:pic>
        <p:nvPicPr>
          <p:cNvPr id="17500" name="Picture 17499" descr="phone_g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156448" y="1161288"/>
            <a:ext cx="274320" cy="274320"/>
          </a:xfrm>
          <a:prstGeom prst="rect">
            <a:avLst/>
          </a:prstGeom>
        </p:spPr>
      </p:pic>
      <p:sp>
        <p:nvSpPr>
          <p:cNvPr id="17501" name="TextBox 17500"/>
          <p:cNvSpPr txBox="1"/>
          <p:nvPr/>
        </p:nvSpPr>
        <p:spPr>
          <a:xfrm>
            <a:off x="8503920" y="1143000"/>
            <a:ext cx="3264408" cy="32918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500" b="1" i="0">
                <a:solidFill>
                  <a:srgbClr val="1F3B73"/>
                </a:solidFill>
                <a:latin typeface="Calibri"/>
              </a:rPr>
              <a:t>Working prototype (Android)</a:t>
            </a:r>
          </a:p>
        </p:txBody>
      </p:sp>
      <p:sp>
        <p:nvSpPr>
          <p:cNvPr id="17502" name="Rounded Rectangle 17501"/>
          <p:cNvSpPr/>
          <p:nvPr/>
        </p:nvSpPr>
        <p:spPr>
          <a:xfrm>
            <a:off x="8229600" y="1554480"/>
            <a:ext cx="1920240" cy="4069080"/>
          </a:xfrm>
          <a:prstGeom prst="roundRect">
            <a:avLst>
              <a:gd name="adj" fmla="val 12000"/>
            </a:avLst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503" name="Rounded Rectangle 17502"/>
          <p:cNvSpPr/>
          <p:nvPr/>
        </p:nvSpPr>
        <p:spPr>
          <a:xfrm>
            <a:off x="8311896" y="1664207"/>
            <a:ext cx="1755648" cy="3849624"/>
          </a:xfrm>
          <a:prstGeom prst="roundRect">
            <a:avLst>
              <a:gd name="adj" fmla="val 8000"/>
            </a:avLst>
          </a:prstGeom>
          <a:solidFill>
            <a:srgbClr val="F3F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504" name="TextBox 17503"/>
          <p:cNvSpPr txBox="1"/>
          <p:nvPr/>
        </p:nvSpPr>
        <p:spPr>
          <a:xfrm>
            <a:off x="8403336" y="1737360"/>
            <a:ext cx="1572768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200" b="1" i="0">
                <a:solidFill>
                  <a:srgbClr val="1E293B"/>
                </a:solidFill>
                <a:latin typeface="Calibri"/>
              </a:rPr>
              <a:t>Talk · </a:t>
            </a:r>
            <a:r>
              <a:rPr sz="1200" b="1" i="0">
                <a:solidFill>
                  <a:srgbClr val="1E293B"/>
                </a:solidFill>
                <a:latin typeface="Nirmala UI"/>
              </a:rPr>
              <a:t>हिन्दी</a:t>
            </a:r>
          </a:p>
        </p:txBody>
      </p:sp>
      <p:sp>
        <p:nvSpPr>
          <p:cNvPr id="17505" name="Rectangle 17504"/>
          <p:cNvSpPr/>
          <p:nvPr/>
        </p:nvSpPr>
        <p:spPr>
          <a:xfrm>
            <a:off x="8311896" y="2066543"/>
            <a:ext cx="1755648" cy="237744"/>
          </a:xfrm>
          <a:prstGeom prst="rect">
            <a:avLst/>
          </a:prstGeom>
          <a:solidFill>
            <a:srgbClr val="E2E8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506" name="TextBox 17505"/>
          <p:cNvSpPr txBox="1"/>
          <p:nvPr/>
        </p:nvSpPr>
        <p:spPr>
          <a:xfrm>
            <a:off x="8357616" y="2066543"/>
            <a:ext cx="1664208" cy="23774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700" b="0" i="0">
                <a:solidFill>
                  <a:srgbClr val="1E8E3E"/>
                </a:solidFill>
                <a:latin typeface="Calibri"/>
              </a:rPr>
              <a:t>● </a:t>
            </a:r>
            <a:r>
              <a:rPr sz="700" b="0" i="0">
                <a:solidFill>
                  <a:srgbClr val="1E293B"/>
                </a:solidFill>
                <a:latin typeface="Calibri"/>
              </a:rPr>
              <a:t>STT ready   </a:t>
            </a:r>
            <a:r>
              <a:rPr sz="700" b="0" i="0">
                <a:solidFill>
                  <a:srgbClr val="1E8E3E"/>
                </a:solidFill>
                <a:latin typeface="Calibri"/>
              </a:rPr>
              <a:t>● </a:t>
            </a:r>
            <a:r>
              <a:rPr sz="700" b="0" i="0">
                <a:solidFill>
                  <a:srgbClr val="1E293B"/>
                </a:solidFill>
                <a:latin typeface="Calibri"/>
              </a:rPr>
              <a:t>Voice   </a:t>
            </a:r>
            <a:r>
              <a:rPr sz="700" b="0" i="0">
                <a:solidFill>
                  <a:srgbClr val="1E8E3E"/>
                </a:solidFill>
                <a:latin typeface="Calibri"/>
              </a:rPr>
              <a:t>● </a:t>
            </a:r>
            <a:r>
              <a:rPr sz="700" b="0" i="0">
                <a:solidFill>
                  <a:srgbClr val="1E293B"/>
                </a:solidFill>
                <a:latin typeface="Calibri"/>
              </a:rPr>
              <a:t>Offline</a:t>
            </a:r>
          </a:p>
        </p:txBody>
      </p:sp>
      <p:sp>
        <p:nvSpPr>
          <p:cNvPr id="17507" name="Rounded Rectangle 17506"/>
          <p:cNvSpPr/>
          <p:nvPr/>
        </p:nvSpPr>
        <p:spPr>
          <a:xfrm>
            <a:off x="8769096" y="2487168"/>
            <a:ext cx="1207008" cy="640080"/>
          </a:xfrm>
          <a:prstGeom prst="roundRect">
            <a:avLst>
              <a:gd name="adj" fmla="val 30000"/>
            </a:avLst>
          </a:prstGeom>
          <a:solidFill>
            <a:srgbClr val="A7F0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508" name="TextBox 17507"/>
          <p:cNvSpPr txBox="1"/>
          <p:nvPr/>
        </p:nvSpPr>
        <p:spPr>
          <a:xfrm>
            <a:off x="8860536" y="2514600"/>
            <a:ext cx="1024128" cy="32918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500" b="0" i="0">
                <a:solidFill>
                  <a:srgbClr val="0B4F3A"/>
                </a:solidFill>
                <a:latin typeface="Nirmala UI"/>
              </a:rPr>
              <a:t>हलो हलो</a:t>
            </a:r>
          </a:p>
        </p:txBody>
      </p:sp>
      <p:sp>
        <p:nvSpPr>
          <p:cNvPr id="17509" name="TextBox 17508"/>
          <p:cNvSpPr txBox="1"/>
          <p:nvPr/>
        </p:nvSpPr>
        <p:spPr>
          <a:xfrm>
            <a:off x="8860536" y="2834639"/>
            <a:ext cx="1024128" cy="23774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750" b="0" i="0">
                <a:solidFill>
                  <a:srgbClr val="2F6B55"/>
                </a:solidFill>
                <a:latin typeface="Calibri"/>
              </a:rPr>
              <a:t>Hindi · STT 236 ms</a:t>
            </a:r>
          </a:p>
        </p:txBody>
      </p:sp>
      <p:sp>
        <p:nvSpPr>
          <p:cNvPr id="17510" name="Rounded Rectangle 17509"/>
          <p:cNvSpPr/>
          <p:nvPr/>
        </p:nvSpPr>
        <p:spPr>
          <a:xfrm>
            <a:off x="8403336" y="4416551"/>
            <a:ext cx="1572768" cy="2743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511" name="TextBox 17510"/>
          <p:cNvSpPr txBox="1"/>
          <p:nvPr/>
        </p:nvSpPr>
        <p:spPr>
          <a:xfrm>
            <a:off x="8476488" y="4416551"/>
            <a:ext cx="1389888" cy="2743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750" b="0" i="0">
                <a:solidFill>
                  <a:srgbClr val="5B6B7F"/>
                </a:solidFill>
                <a:latin typeface="Calibri"/>
              </a:rPr>
              <a:t>Or type a message</a:t>
            </a:r>
          </a:p>
        </p:txBody>
      </p:sp>
      <p:sp>
        <p:nvSpPr>
          <p:cNvPr id="17512" name="Oval 17511"/>
          <p:cNvSpPr/>
          <p:nvPr/>
        </p:nvSpPr>
        <p:spPr>
          <a:xfrm>
            <a:off x="9409176" y="4782312"/>
            <a:ext cx="566928" cy="566928"/>
          </a:xfrm>
          <a:prstGeom prst="ellipse">
            <a:avLst/>
          </a:prstGeom>
          <a:solidFill>
            <a:srgbClr val="1D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513" name="Picture 17512" descr="mic_w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556577" y="4929713"/>
            <a:ext cx="272125" cy="272125"/>
          </a:xfrm>
          <a:prstGeom prst="rect">
            <a:avLst/>
          </a:prstGeom>
        </p:spPr>
      </p:pic>
      <p:sp>
        <p:nvSpPr>
          <p:cNvPr id="17514" name="Rounded Rectangle 17513"/>
          <p:cNvSpPr/>
          <p:nvPr/>
        </p:nvSpPr>
        <p:spPr>
          <a:xfrm>
            <a:off x="8403336" y="4946903"/>
            <a:ext cx="731520" cy="237744"/>
          </a:xfrm>
          <a:prstGeom prst="roundRect">
            <a:avLst>
              <a:gd name="adj" fmla="val 50000"/>
            </a:avLst>
          </a:prstGeom>
          <a:solidFill>
            <a:srgbClr val="D6EA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515" name="TextBox 17514"/>
          <p:cNvSpPr txBox="1"/>
          <p:nvPr/>
        </p:nvSpPr>
        <p:spPr>
          <a:xfrm>
            <a:off x="8403336" y="4946903"/>
            <a:ext cx="731520" cy="23774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750" b="0" i="0">
                <a:solidFill>
                  <a:srgbClr val="1E293B"/>
                </a:solidFill>
                <a:latin typeface="Calibri"/>
              </a:rPr>
              <a:t>PTT | Call</a:t>
            </a:r>
          </a:p>
        </p:txBody>
      </p:sp>
      <p:sp>
        <p:nvSpPr>
          <p:cNvPr id="17516" name="Rounded Rectangle 17515"/>
          <p:cNvSpPr/>
          <p:nvPr/>
        </p:nvSpPr>
        <p:spPr>
          <a:xfrm>
            <a:off x="10332720" y="1554480"/>
            <a:ext cx="1444752" cy="941832"/>
          </a:xfrm>
          <a:prstGeom prst="roundRect">
            <a:avLst>
              <a:gd name="adj" fmla="val 14000"/>
            </a:avLst>
          </a:prstGeom>
          <a:solidFill>
            <a:srgbClr val="F4F6F9"/>
          </a:solidFill>
          <a:ln w="9525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517" name="TextBox 17516"/>
          <p:cNvSpPr txBox="1"/>
          <p:nvPr/>
        </p:nvSpPr>
        <p:spPr>
          <a:xfrm>
            <a:off x="10332720" y="1627632"/>
            <a:ext cx="1444752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2000" b="1" i="0">
                <a:solidFill>
                  <a:srgbClr val="E8711A"/>
                </a:solidFill>
                <a:latin typeface="Calibri"/>
              </a:rPr>
              <a:t>236 ms</a:t>
            </a:r>
          </a:p>
        </p:txBody>
      </p:sp>
      <p:sp>
        <p:nvSpPr>
          <p:cNvPr id="17518" name="TextBox 17517"/>
          <p:cNvSpPr txBox="1"/>
          <p:nvPr/>
        </p:nvSpPr>
        <p:spPr>
          <a:xfrm>
            <a:off x="10378440" y="2066543"/>
            <a:ext cx="1353312" cy="38404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950" b="0" i="0">
                <a:solidFill>
                  <a:srgbClr val="5B6B7F"/>
                </a:solidFill>
                <a:latin typeface="Calibri"/>
              </a:rPr>
              <a:t>Hindi sentence decode</a:t>
            </a:r>
          </a:p>
        </p:txBody>
      </p:sp>
      <p:sp>
        <p:nvSpPr>
          <p:cNvPr id="17519" name="Rounded Rectangle 17518"/>
          <p:cNvSpPr/>
          <p:nvPr/>
        </p:nvSpPr>
        <p:spPr>
          <a:xfrm>
            <a:off x="10332720" y="2587752"/>
            <a:ext cx="1444752" cy="941832"/>
          </a:xfrm>
          <a:prstGeom prst="roundRect">
            <a:avLst>
              <a:gd name="adj" fmla="val 14000"/>
            </a:avLst>
          </a:prstGeom>
          <a:solidFill>
            <a:srgbClr val="F4F6F9"/>
          </a:solidFill>
          <a:ln w="9525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520" name="TextBox 17519"/>
          <p:cNvSpPr txBox="1"/>
          <p:nvPr/>
        </p:nvSpPr>
        <p:spPr>
          <a:xfrm>
            <a:off x="10332720" y="2660904"/>
            <a:ext cx="1444752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2000" b="1" i="0">
                <a:solidFill>
                  <a:srgbClr val="1F3B73"/>
                </a:solidFill>
                <a:latin typeface="Calibri"/>
              </a:rPr>
              <a:t>644 ms</a:t>
            </a:r>
          </a:p>
        </p:txBody>
      </p:sp>
      <p:sp>
        <p:nvSpPr>
          <p:cNvPr id="17521" name="TextBox 17520"/>
          <p:cNvSpPr txBox="1"/>
          <p:nvPr/>
        </p:nvSpPr>
        <p:spPr>
          <a:xfrm>
            <a:off x="10378440" y="3099816"/>
            <a:ext cx="1353312" cy="38404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950" b="0" i="0">
                <a:solidFill>
                  <a:srgbClr val="5B6B7F"/>
                </a:solidFill>
                <a:latin typeface="Calibri"/>
              </a:rPr>
              <a:t>STT model load</a:t>
            </a:r>
          </a:p>
        </p:txBody>
      </p:sp>
      <p:sp>
        <p:nvSpPr>
          <p:cNvPr id="17522" name="Rounded Rectangle 17521"/>
          <p:cNvSpPr/>
          <p:nvPr/>
        </p:nvSpPr>
        <p:spPr>
          <a:xfrm>
            <a:off x="10332720" y="3621024"/>
            <a:ext cx="1444752" cy="941832"/>
          </a:xfrm>
          <a:prstGeom prst="roundRect">
            <a:avLst>
              <a:gd name="adj" fmla="val 14000"/>
            </a:avLst>
          </a:prstGeom>
          <a:solidFill>
            <a:srgbClr val="F4F6F9"/>
          </a:solidFill>
          <a:ln w="9525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523" name="TextBox 17522"/>
          <p:cNvSpPr txBox="1"/>
          <p:nvPr/>
        </p:nvSpPr>
        <p:spPr>
          <a:xfrm>
            <a:off x="10332720" y="3694176"/>
            <a:ext cx="1444752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2000" b="1" i="0">
                <a:solidFill>
                  <a:srgbClr val="1F3B73"/>
                </a:solidFill>
                <a:latin typeface="Calibri"/>
              </a:rPr>
              <a:t>654 ms</a:t>
            </a:r>
          </a:p>
        </p:txBody>
      </p:sp>
      <p:sp>
        <p:nvSpPr>
          <p:cNvPr id="17524" name="TextBox 17523"/>
          <p:cNvSpPr txBox="1"/>
          <p:nvPr/>
        </p:nvSpPr>
        <p:spPr>
          <a:xfrm>
            <a:off x="10378440" y="4133087"/>
            <a:ext cx="1353312" cy="38404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950" b="0" i="0">
                <a:solidFill>
                  <a:srgbClr val="5B6B7F"/>
                </a:solidFill>
                <a:latin typeface="Calibri"/>
              </a:rPr>
              <a:t>TTS voice load</a:t>
            </a:r>
          </a:p>
        </p:txBody>
      </p:sp>
      <p:sp>
        <p:nvSpPr>
          <p:cNvPr id="17525" name="Rounded Rectangle 17524"/>
          <p:cNvSpPr/>
          <p:nvPr/>
        </p:nvSpPr>
        <p:spPr>
          <a:xfrm>
            <a:off x="10332720" y="4654296"/>
            <a:ext cx="1444752" cy="941832"/>
          </a:xfrm>
          <a:prstGeom prst="roundRect">
            <a:avLst>
              <a:gd name="adj" fmla="val 14000"/>
            </a:avLst>
          </a:prstGeom>
          <a:solidFill>
            <a:srgbClr val="F4F6F9"/>
          </a:solidFill>
          <a:ln w="9525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526" name="TextBox 17525"/>
          <p:cNvSpPr txBox="1"/>
          <p:nvPr/>
        </p:nvSpPr>
        <p:spPr>
          <a:xfrm>
            <a:off x="10332720" y="4727448"/>
            <a:ext cx="1444752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2000" b="1" i="0">
                <a:solidFill>
                  <a:srgbClr val="1E8E3E"/>
                </a:solidFill>
                <a:latin typeface="Calibri"/>
              </a:rPr>
              <a:t>10 / 10</a:t>
            </a:r>
          </a:p>
        </p:txBody>
      </p:sp>
      <p:sp>
        <p:nvSpPr>
          <p:cNvPr id="17527" name="TextBox 17526"/>
          <p:cNvSpPr txBox="1"/>
          <p:nvPr/>
        </p:nvSpPr>
        <p:spPr>
          <a:xfrm>
            <a:off x="10378440" y="5166360"/>
            <a:ext cx="1353312" cy="38404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950" b="0" i="0">
                <a:solidFill>
                  <a:srgbClr val="5B6B7F"/>
                </a:solidFill>
                <a:latin typeface="Calibri"/>
              </a:rPr>
              <a:t>languages verified</a:t>
            </a:r>
          </a:p>
        </p:txBody>
      </p:sp>
      <p:sp>
        <p:nvSpPr>
          <p:cNvPr id="17528" name="TextBox 17527"/>
          <p:cNvSpPr txBox="1"/>
          <p:nvPr/>
        </p:nvSpPr>
        <p:spPr>
          <a:xfrm>
            <a:off x="8183879" y="5715000"/>
            <a:ext cx="3611880" cy="5029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900" b="0" i="0">
                <a:solidFill>
                  <a:srgbClr val="5B6B7F"/>
                </a:solidFill>
                <a:latin typeface="Calibri"/>
              </a:rPr>
              <a:t>Talk screen of the running app (redrawn); timings measured on a OnePlus CPH2717, Android 16.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28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z="1200" b="1">
                <a:solidFill>
                  <a:srgbClr val="1F3B73"/>
                </a:solidFill>
              </a:rPr>
              <a:t>Hexabits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7410" name="Picture 17409" descr="science_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1161288"/>
            <a:ext cx="274320" cy="274320"/>
          </a:xfrm>
          <a:prstGeom prst="rect">
            <a:avLst/>
          </a:prstGeom>
        </p:spPr>
      </p:pic>
      <p:sp>
        <p:nvSpPr>
          <p:cNvPr id="17411" name="TextBox 17410"/>
          <p:cNvSpPr txBox="1"/>
          <p:nvPr/>
        </p:nvSpPr>
        <p:spPr>
          <a:xfrm>
            <a:off x="758952" y="1143000"/>
            <a:ext cx="4956048" cy="32918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500" b="1" i="0">
                <a:solidFill>
                  <a:srgbClr val="1F3B73"/>
                </a:solidFill>
                <a:latin typeface="Calibri"/>
              </a:rPr>
              <a:t>Analysis of the feasibility of the idea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411480" y="1536192"/>
            <a:ext cx="1706879" cy="914400"/>
          </a:xfrm>
          <a:prstGeom prst="roundRect">
            <a:avLst>
              <a:gd name="adj" fmla="val 14000"/>
            </a:avLst>
          </a:prstGeom>
          <a:solidFill>
            <a:srgbClr val="EA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3" name="TextBox 17412"/>
          <p:cNvSpPr txBox="1"/>
          <p:nvPr/>
        </p:nvSpPr>
        <p:spPr>
          <a:xfrm>
            <a:off x="411480" y="1572768"/>
            <a:ext cx="1706879" cy="438912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2200" b="1" i="0">
                <a:solidFill>
                  <a:srgbClr val="1E8E3E"/>
                </a:solidFill>
                <a:latin typeface="Calibri"/>
              </a:rPr>
              <a:t>10 / 10</a:t>
            </a:r>
          </a:p>
        </p:txBody>
      </p:sp>
      <p:sp>
        <p:nvSpPr>
          <p:cNvPr id="17414" name="TextBox 17413"/>
          <p:cNvSpPr txBox="1"/>
          <p:nvPr/>
        </p:nvSpPr>
        <p:spPr>
          <a:xfrm>
            <a:off x="484632" y="2011680"/>
            <a:ext cx="1560576" cy="40233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950" b="0" i="0">
                <a:solidFill>
                  <a:srgbClr val="1E293B"/>
                </a:solidFill>
                <a:latin typeface="Calibri"/>
              </a:rPr>
              <a:t>languages running fully offline</a:t>
            </a:r>
          </a:p>
        </p:txBody>
      </p:sp>
      <p:sp>
        <p:nvSpPr>
          <p:cNvPr id="17415" name="Rounded Rectangle 17414"/>
          <p:cNvSpPr/>
          <p:nvPr/>
        </p:nvSpPr>
        <p:spPr>
          <a:xfrm>
            <a:off x="2209800" y="1536192"/>
            <a:ext cx="1706879" cy="914400"/>
          </a:xfrm>
          <a:prstGeom prst="roundRect">
            <a:avLst>
              <a:gd name="adj" fmla="val 14000"/>
            </a:avLst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6" name="TextBox 17415"/>
          <p:cNvSpPr txBox="1"/>
          <p:nvPr/>
        </p:nvSpPr>
        <p:spPr>
          <a:xfrm>
            <a:off x="2209800" y="1572768"/>
            <a:ext cx="1706879" cy="438912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2200" b="1" i="0">
                <a:solidFill>
                  <a:srgbClr val="1F3B73"/>
                </a:solidFill>
                <a:latin typeface="Calibri"/>
              </a:rPr>
              <a:t>~0.3 GB</a:t>
            </a:r>
          </a:p>
        </p:txBody>
      </p:sp>
      <p:sp>
        <p:nvSpPr>
          <p:cNvPr id="17417" name="TextBox 17416"/>
          <p:cNvSpPr txBox="1"/>
          <p:nvPr/>
        </p:nvSpPr>
        <p:spPr>
          <a:xfrm>
            <a:off x="2282952" y="2011680"/>
            <a:ext cx="1560576" cy="40233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950" b="0" i="0">
                <a:solidFill>
                  <a:srgbClr val="1E293B"/>
                </a:solidFill>
                <a:latin typeface="Calibri"/>
              </a:rPr>
              <a:t>per language (speech + voice packs)</a:t>
            </a:r>
          </a:p>
        </p:txBody>
      </p:sp>
      <p:sp>
        <p:nvSpPr>
          <p:cNvPr id="17418" name="Rounded Rectangle 17417"/>
          <p:cNvSpPr/>
          <p:nvPr/>
        </p:nvSpPr>
        <p:spPr>
          <a:xfrm>
            <a:off x="4008119" y="1536192"/>
            <a:ext cx="1706879" cy="914400"/>
          </a:xfrm>
          <a:prstGeom prst="roundRect">
            <a:avLst>
              <a:gd name="adj" fmla="val 14000"/>
            </a:avLst>
          </a:prstGeom>
          <a:solidFill>
            <a:srgbClr val="FF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9" name="TextBox 17418"/>
          <p:cNvSpPr txBox="1"/>
          <p:nvPr/>
        </p:nvSpPr>
        <p:spPr>
          <a:xfrm>
            <a:off x="4008119" y="1572768"/>
            <a:ext cx="1706879" cy="438912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2200" b="1" i="0">
                <a:solidFill>
                  <a:srgbClr val="E8711A"/>
                </a:solidFill>
                <a:latin typeface="Calibri"/>
              </a:rPr>
              <a:t>&lt;1.1 GB</a:t>
            </a:r>
          </a:p>
        </p:txBody>
      </p:sp>
      <p:sp>
        <p:nvSpPr>
          <p:cNvPr id="17420" name="TextBox 17419"/>
          <p:cNvSpPr txBox="1"/>
          <p:nvPr/>
        </p:nvSpPr>
        <p:spPr>
          <a:xfrm>
            <a:off x="4081271" y="2011680"/>
            <a:ext cx="1560576" cy="40233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950" b="0" i="0">
                <a:solidFill>
                  <a:srgbClr val="1E293B"/>
                </a:solidFill>
                <a:latin typeface="Calibri"/>
              </a:rPr>
              <a:t>peak RAM (est.), fits 3 GB phones</a:t>
            </a:r>
          </a:p>
        </p:txBody>
      </p:sp>
      <p:graphicFrame>
        <p:nvGraphicFramePr>
          <p:cNvPr id="17421" name="Chart 17420"/>
          <p:cNvGraphicFramePr>
            <a:graphicFrameLocks noGrp="1"/>
          </p:cNvGraphicFramePr>
          <p:nvPr/>
        </p:nvGraphicFramePr>
        <p:xfrm>
          <a:off x="411480" y="2578608"/>
          <a:ext cx="5303520" cy="301752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17422" name="TextBox 17421"/>
          <p:cNvSpPr txBox="1"/>
          <p:nvPr/>
        </p:nvSpPr>
        <p:spPr>
          <a:xfrm>
            <a:off x="411480" y="5632704"/>
            <a:ext cx="5303520" cy="60350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900" b="0" i="0">
                <a:solidFill>
                  <a:srgbClr val="5B6B7F"/>
                </a:solidFill>
                <a:latin typeface="Calibri"/>
              </a:rPr>
              <a:t>Each language: our TTS voice speaks a flood warning, our STT transcribes it back (sherpa-onnx, CPU, 2 threads). STT ran 5–20× faster than real time. Next: real speech from 10 speakers per language.</a:t>
            </a:r>
          </a:p>
        </p:txBody>
      </p:sp>
      <p:pic>
        <p:nvPicPr>
          <p:cNvPr id="17423" name="Picture 17422" descr="warning_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89320" y="1161288"/>
            <a:ext cx="274320" cy="274320"/>
          </a:xfrm>
          <a:prstGeom prst="rect">
            <a:avLst/>
          </a:prstGeom>
        </p:spPr>
      </p:pic>
      <p:sp>
        <p:nvSpPr>
          <p:cNvPr id="17424" name="TextBox 17423"/>
          <p:cNvSpPr txBox="1"/>
          <p:nvPr/>
        </p:nvSpPr>
        <p:spPr>
          <a:xfrm>
            <a:off x="6336792" y="1143000"/>
            <a:ext cx="5440680" cy="32918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400" b="1" i="0">
                <a:solidFill>
                  <a:srgbClr val="1F3B73"/>
                </a:solidFill>
                <a:latin typeface="Calibri"/>
              </a:rPr>
              <a:t>Potential challenges and risks  →  Strategies for overcoming them</a:t>
            </a:r>
          </a:p>
        </p:txBody>
      </p:sp>
      <p:sp>
        <p:nvSpPr>
          <p:cNvPr id="17425" name="Rounded Rectangle 17424"/>
          <p:cNvSpPr/>
          <p:nvPr/>
        </p:nvSpPr>
        <p:spPr>
          <a:xfrm>
            <a:off x="5989320" y="1536192"/>
            <a:ext cx="2487168" cy="877824"/>
          </a:xfrm>
          <a:prstGeom prst="roundRect">
            <a:avLst>
              <a:gd name="adj" fmla="val 14000"/>
            </a:avLst>
          </a:prstGeom>
          <a:solidFill>
            <a:srgbClr val="FF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26" name="Picture 17425" descr="route_o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9048" y="1664207"/>
            <a:ext cx="292608" cy="292608"/>
          </a:xfrm>
          <a:prstGeom prst="rect">
            <a:avLst/>
          </a:prstGeom>
        </p:spPr>
      </p:pic>
      <p:sp>
        <p:nvSpPr>
          <p:cNvPr id="17427" name="TextBox 17426"/>
          <p:cNvSpPr txBox="1"/>
          <p:nvPr/>
        </p:nvSpPr>
        <p:spPr>
          <a:xfrm>
            <a:off x="6464808" y="1627632"/>
            <a:ext cx="1938528" cy="32918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150" b="1" i="0">
                <a:solidFill>
                  <a:srgbClr val="1F3B73"/>
                </a:solidFill>
                <a:latin typeface="Calibri"/>
              </a:rPr>
              <a:t>Short range per hop</a:t>
            </a:r>
          </a:p>
        </p:txBody>
      </p:sp>
      <p:sp>
        <p:nvSpPr>
          <p:cNvPr id="17428" name="TextBox 17427"/>
          <p:cNvSpPr txBox="1"/>
          <p:nvPr/>
        </p:nvSpPr>
        <p:spPr>
          <a:xfrm>
            <a:off x="6117336" y="1975104"/>
            <a:ext cx="2267712" cy="42062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950" b="0" i="0">
                <a:solidFill>
                  <a:srgbClr val="5B6B7F"/>
                </a:solidFill>
                <a:latin typeface="Calibri"/>
              </a:rPr>
              <a:t>~60–100 m per Bluetooth hop</a:t>
            </a:r>
          </a:p>
        </p:txBody>
      </p:sp>
      <p:sp>
        <p:nvSpPr>
          <p:cNvPr id="17429" name="Chevron 17428"/>
          <p:cNvSpPr/>
          <p:nvPr/>
        </p:nvSpPr>
        <p:spPr>
          <a:xfrm>
            <a:off x="8522208" y="1883664"/>
            <a:ext cx="182879" cy="182880"/>
          </a:xfrm>
          <a:prstGeom prst="chevron">
            <a:avLst/>
          </a:prstGeom>
          <a:solidFill>
            <a:srgbClr val="B8C4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30" name="Rounded Rectangle 17429"/>
          <p:cNvSpPr/>
          <p:nvPr/>
        </p:nvSpPr>
        <p:spPr>
          <a:xfrm>
            <a:off x="8750808" y="1536192"/>
            <a:ext cx="3026664" cy="877824"/>
          </a:xfrm>
          <a:prstGeom prst="roundRect">
            <a:avLst>
              <a:gd name="adj" fmla="val 14000"/>
            </a:avLst>
          </a:prstGeom>
          <a:solidFill>
            <a:srgbClr val="EA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31" name="Picture 17430" descr="check_g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60536" y="1837943"/>
            <a:ext cx="274320" cy="274320"/>
          </a:xfrm>
          <a:prstGeom prst="rect">
            <a:avLst/>
          </a:prstGeom>
        </p:spPr>
      </p:pic>
      <p:sp>
        <p:nvSpPr>
          <p:cNvPr id="17432" name="TextBox 17431"/>
          <p:cNvSpPr txBox="1"/>
          <p:nvPr/>
        </p:nvSpPr>
        <p:spPr>
          <a:xfrm>
            <a:off x="9226296" y="1591056"/>
            <a:ext cx="2459736" cy="768096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7-hop relay, BLE Coded PHY where supported, store-and-forward by moving phones</a:t>
            </a:r>
          </a:p>
        </p:txBody>
      </p:sp>
      <p:sp>
        <p:nvSpPr>
          <p:cNvPr id="17433" name="Rounded Rectangle 17432"/>
          <p:cNvSpPr/>
          <p:nvPr/>
        </p:nvSpPr>
        <p:spPr>
          <a:xfrm>
            <a:off x="5989320" y="2478024"/>
            <a:ext cx="2487168" cy="877824"/>
          </a:xfrm>
          <a:prstGeom prst="roundRect">
            <a:avLst>
              <a:gd name="adj" fmla="val 14000"/>
            </a:avLst>
          </a:prstGeom>
          <a:solidFill>
            <a:srgbClr val="FF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34" name="Picture 17433" descr="hearing_o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99048" y="2606040"/>
            <a:ext cx="292608" cy="292608"/>
          </a:xfrm>
          <a:prstGeom prst="rect">
            <a:avLst/>
          </a:prstGeom>
        </p:spPr>
      </p:pic>
      <p:sp>
        <p:nvSpPr>
          <p:cNvPr id="17435" name="TextBox 17434"/>
          <p:cNvSpPr txBox="1"/>
          <p:nvPr/>
        </p:nvSpPr>
        <p:spPr>
          <a:xfrm>
            <a:off x="6464808" y="2569464"/>
            <a:ext cx="1938528" cy="32918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150" b="1" i="0">
                <a:solidFill>
                  <a:srgbClr val="1F3B73"/>
                </a:solidFill>
                <a:latin typeface="Calibri"/>
              </a:rPr>
              <a:t>Hard speech</a:t>
            </a:r>
          </a:p>
        </p:txBody>
      </p:sp>
      <p:sp>
        <p:nvSpPr>
          <p:cNvPr id="17436" name="TextBox 17435"/>
          <p:cNvSpPr txBox="1"/>
          <p:nvPr/>
        </p:nvSpPr>
        <p:spPr>
          <a:xfrm>
            <a:off x="6117336" y="2916936"/>
            <a:ext cx="2267712" cy="42062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950" b="0" i="0">
                <a:solidFill>
                  <a:srgbClr val="5B6B7F"/>
                </a:solidFill>
                <a:latin typeface="Calibri"/>
              </a:rPr>
              <a:t>Noise, soft voices, Malayalam / Odia accuracy</a:t>
            </a:r>
          </a:p>
        </p:txBody>
      </p:sp>
      <p:sp>
        <p:nvSpPr>
          <p:cNvPr id="17437" name="Chevron 17436"/>
          <p:cNvSpPr/>
          <p:nvPr/>
        </p:nvSpPr>
        <p:spPr>
          <a:xfrm>
            <a:off x="8522208" y="2825496"/>
            <a:ext cx="182879" cy="182880"/>
          </a:xfrm>
          <a:prstGeom prst="chevron">
            <a:avLst/>
          </a:prstGeom>
          <a:solidFill>
            <a:srgbClr val="B8C4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38" name="Rounded Rectangle 17437"/>
          <p:cNvSpPr/>
          <p:nvPr/>
        </p:nvSpPr>
        <p:spPr>
          <a:xfrm>
            <a:off x="8750808" y="2478024"/>
            <a:ext cx="3026664" cy="877824"/>
          </a:xfrm>
          <a:prstGeom prst="roundRect">
            <a:avLst>
              <a:gd name="adj" fmla="val 14000"/>
            </a:avLst>
          </a:prstGeom>
          <a:solidFill>
            <a:srgbClr val="EA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39" name="Picture 17438" descr="check_g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60536" y="2779776"/>
            <a:ext cx="274320" cy="274320"/>
          </a:xfrm>
          <a:prstGeom prst="rect">
            <a:avLst/>
          </a:prstGeom>
        </p:spPr>
      </p:pic>
      <p:sp>
        <p:nvSpPr>
          <p:cNvPr id="17440" name="TextBox 17439"/>
          <p:cNvSpPr txBox="1"/>
          <p:nvPr/>
        </p:nvSpPr>
        <p:spPr>
          <a:xfrm>
            <a:off x="9226296" y="2532888"/>
            <a:ext cx="2459736" cy="768096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Gain control + tuned VAD, distress hotword list, text shown with voice, real-speech test set</a:t>
            </a:r>
          </a:p>
        </p:txBody>
      </p:sp>
      <p:sp>
        <p:nvSpPr>
          <p:cNvPr id="17441" name="Rounded Rectangle 17440"/>
          <p:cNvSpPr/>
          <p:nvPr/>
        </p:nvSpPr>
        <p:spPr>
          <a:xfrm>
            <a:off x="5989320" y="3419856"/>
            <a:ext cx="2487168" cy="877824"/>
          </a:xfrm>
          <a:prstGeom prst="roundRect">
            <a:avLst>
              <a:gd name="adj" fmla="val 14000"/>
            </a:avLst>
          </a:prstGeom>
          <a:solidFill>
            <a:srgbClr val="FF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42" name="Picture 17441" descr="battery_o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99048" y="3547872"/>
            <a:ext cx="292608" cy="292608"/>
          </a:xfrm>
          <a:prstGeom prst="rect">
            <a:avLst/>
          </a:prstGeom>
        </p:spPr>
      </p:pic>
      <p:sp>
        <p:nvSpPr>
          <p:cNvPr id="17443" name="TextBox 17442"/>
          <p:cNvSpPr txBox="1"/>
          <p:nvPr/>
        </p:nvSpPr>
        <p:spPr>
          <a:xfrm>
            <a:off x="6464808" y="3511296"/>
            <a:ext cx="1938528" cy="32918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150" b="1" i="0">
                <a:solidFill>
                  <a:srgbClr val="1F3B73"/>
                </a:solidFill>
                <a:latin typeface="Calibri"/>
              </a:rPr>
              <a:t>Low-end phones</a:t>
            </a:r>
          </a:p>
        </p:txBody>
      </p:sp>
      <p:sp>
        <p:nvSpPr>
          <p:cNvPr id="17444" name="TextBox 17443"/>
          <p:cNvSpPr txBox="1"/>
          <p:nvPr/>
        </p:nvSpPr>
        <p:spPr>
          <a:xfrm>
            <a:off x="6117336" y="3858768"/>
            <a:ext cx="2267712" cy="42062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950" b="0" i="0">
                <a:solidFill>
                  <a:srgbClr val="5B6B7F"/>
                </a:solidFill>
                <a:latin typeface="Calibri"/>
              </a:rPr>
              <a:t>RAM, battery drain, background kills</a:t>
            </a:r>
          </a:p>
        </p:txBody>
      </p:sp>
      <p:sp>
        <p:nvSpPr>
          <p:cNvPr id="17445" name="Chevron 17444"/>
          <p:cNvSpPr/>
          <p:nvPr/>
        </p:nvSpPr>
        <p:spPr>
          <a:xfrm>
            <a:off x="8522208" y="3767328"/>
            <a:ext cx="182879" cy="182880"/>
          </a:xfrm>
          <a:prstGeom prst="chevron">
            <a:avLst/>
          </a:prstGeom>
          <a:solidFill>
            <a:srgbClr val="B8C4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46" name="Rounded Rectangle 17445"/>
          <p:cNvSpPr/>
          <p:nvPr/>
        </p:nvSpPr>
        <p:spPr>
          <a:xfrm>
            <a:off x="8750808" y="3419856"/>
            <a:ext cx="3026664" cy="877824"/>
          </a:xfrm>
          <a:prstGeom prst="roundRect">
            <a:avLst>
              <a:gd name="adj" fmla="val 14000"/>
            </a:avLst>
          </a:prstGeom>
          <a:solidFill>
            <a:srgbClr val="EA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47" name="Picture 17446" descr="check_g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60536" y="3721608"/>
            <a:ext cx="274320" cy="274320"/>
          </a:xfrm>
          <a:prstGeom prst="rect">
            <a:avLst/>
          </a:prstGeom>
        </p:spPr>
      </p:pic>
      <p:sp>
        <p:nvSpPr>
          <p:cNvPr id="17448" name="TextBox 17447"/>
          <p:cNvSpPr txBox="1"/>
          <p:nvPr/>
        </p:nvSpPr>
        <p:spPr>
          <a:xfrm>
            <a:off x="9226296" y="3474720"/>
            <a:ext cx="2459736" cy="768096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int8 models, one language in RAM, duty-cycled scanning, foreground service</a:t>
            </a:r>
          </a:p>
        </p:txBody>
      </p:sp>
      <p:sp>
        <p:nvSpPr>
          <p:cNvPr id="17449" name="Rounded Rectangle 17448"/>
          <p:cNvSpPr/>
          <p:nvPr/>
        </p:nvSpPr>
        <p:spPr>
          <a:xfrm>
            <a:off x="5989320" y="4361688"/>
            <a:ext cx="2487168" cy="877824"/>
          </a:xfrm>
          <a:prstGeom prst="roundRect">
            <a:avLst>
              <a:gd name="adj" fmla="val 14000"/>
            </a:avLst>
          </a:prstGeom>
          <a:solidFill>
            <a:srgbClr val="FF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50" name="Picture 17449" descr="shield_o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099048" y="4489703"/>
            <a:ext cx="292608" cy="292608"/>
          </a:xfrm>
          <a:prstGeom prst="rect">
            <a:avLst/>
          </a:prstGeom>
        </p:spPr>
      </p:pic>
      <p:sp>
        <p:nvSpPr>
          <p:cNvPr id="17451" name="TextBox 17450"/>
          <p:cNvSpPr txBox="1"/>
          <p:nvPr/>
        </p:nvSpPr>
        <p:spPr>
          <a:xfrm>
            <a:off x="6464808" y="4453127"/>
            <a:ext cx="1938528" cy="32918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150" b="1" i="0">
                <a:solidFill>
                  <a:srgbClr val="1F3B73"/>
                </a:solidFill>
                <a:latin typeface="Calibri"/>
              </a:rPr>
              <a:t>Fake alerts and misuse</a:t>
            </a:r>
          </a:p>
        </p:txBody>
      </p:sp>
      <p:sp>
        <p:nvSpPr>
          <p:cNvPr id="17452" name="TextBox 17451"/>
          <p:cNvSpPr txBox="1"/>
          <p:nvPr/>
        </p:nvSpPr>
        <p:spPr>
          <a:xfrm>
            <a:off x="6117336" y="4800600"/>
            <a:ext cx="2267712" cy="42062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950" b="0" i="0">
                <a:solidFill>
                  <a:srgbClr val="5B6B7F"/>
                </a:solidFill>
                <a:latin typeface="Calibri"/>
              </a:rPr>
              <a:t>Spoofing; mesh apps were flagged in India (Jul 2026)</a:t>
            </a:r>
          </a:p>
        </p:txBody>
      </p:sp>
      <p:sp>
        <p:nvSpPr>
          <p:cNvPr id="17453" name="Chevron 17452"/>
          <p:cNvSpPr/>
          <p:nvPr/>
        </p:nvSpPr>
        <p:spPr>
          <a:xfrm>
            <a:off x="8522208" y="4709160"/>
            <a:ext cx="182879" cy="182880"/>
          </a:xfrm>
          <a:prstGeom prst="chevron">
            <a:avLst/>
          </a:prstGeom>
          <a:solidFill>
            <a:srgbClr val="B8C4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54" name="Rounded Rectangle 17453"/>
          <p:cNvSpPr/>
          <p:nvPr/>
        </p:nvSpPr>
        <p:spPr>
          <a:xfrm>
            <a:off x="8750808" y="4361688"/>
            <a:ext cx="3026664" cy="877824"/>
          </a:xfrm>
          <a:prstGeom prst="roundRect">
            <a:avLst>
              <a:gd name="adj" fmla="val 14000"/>
            </a:avLst>
          </a:prstGeom>
          <a:solidFill>
            <a:srgbClr val="EA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55" name="Picture 17454" descr="check_g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60536" y="4663440"/>
            <a:ext cx="274320" cy="274320"/>
          </a:xfrm>
          <a:prstGeom prst="rect">
            <a:avLst/>
          </a:prstGeom>
        </p:spPr>
      </p:pic>
      <p:sp>
        <p:nvSpPr>
          <p:cNvPr id="17456" name="TextBox 17455"/>
          <p:cNvSpPr txBox="1"/>
          <p:nvPr/>
        </p:nvSpPr>
        <p:spPr>
          <a:xfrm>
            <a:off x="9226296" y="4416551"/>
            <a:ext cx="2459736" cy="768096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Ed25519-signed packets, verified NDMA / ISRO key, built as an authenticated alert tool</a:t>
            </a:r>
          </a:p>
        </p:txBody>
      </p:sp>
      <p:sp>
        <p:nvSpPr>
          <p:cNvPr id="17457" name="Rounded Rectangle 17456"/>
          <p:cNvSpPr/>
          <p:nvPr/>
        </p:nvSpPr>
        <p:spPr>
          <a:xfrm>
            <a:off x="5989320" y="5303520"/>
            <a:ext cx="2487168" cy="877824"/>
          </a:xfrm>
          <a:prstGeom prst="roundRect">
            <a:avLst>
              <a:gd name="adj" fmla="val 14000"/>
            </a:avLst>
          </a:prstGeom>
          <a:solidFill>
            <a:srgbClr val="FF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58" name="Picture 17457" descr="book_o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099048" y="5431536"/>
            <a:ext cx="292608" cy="292608"/>
          </a:xfrm>
          <a:prstGeom prst="rect">
            <a:avLst/>
          </a:prstGeom>
        </p:spPr>
      </p:pic>
      <p:sp>
        <p:nvSpPr>
          <p:cNvPr id="17459" name="TextBox 17458"/>
          <p:cNvSpPr txBox="1"/>
          <p:nvPr/>
        </p:nvSpPr>
        <p:spPr>
          <a:xfrm>
            <a:off x="6464808" y="5394959"/>
            <a:ext cx="1938528" cy="32918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150" b="1" i="0">
                <a:solidFill>
                  <a:srgbClr val="1F3B73"/>
                </a:solidFill>
                <a:latin typeface="Calibri"/>
              </a:rPr>
              <a:t>Voice licence</a:t>
            </a:r>
          </a:p>
        </p:txBody>
      </p:sp>
      <p:sp>
        <p:nvSpPr>
          <p:cNvPr id="17460" name="TextBox 17459"/>
          <p:cNvSpPr txBox="1"/>
          <p:nvPr/>
        </p:nvSpPr>
        <p:spPr>
          <a:xfrm>
            <a:off x="6117336" y="5742431"/>
            <a:ext cx="2267712" cy="42062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950" b="0" i="0">
                <a:solidFill>
                  <a:srgbClr val="5B6B7F"/>
                </a:solidFill>
                <a:latin typeface="Calibri"/>
              </a:rPr>
              <a:t>MMS-TTS voices are non-commercial</a:t>
            </a:r>
          </a:p>
        </p:txBody>
      </p:sp>
      <p:sp>
        <p:nvSpPr>
          <p:cNvPr id="17461" name="Chevron 17460"/>
          <p:cNvSpPr/>
          <p:nvPr/>
        </p:nvSpPr>
        <p:spPr>
          <a:xfrm>
            <a:off x="8522208" y="5650992"/>
            <a:ext cx="182879" cy="182880"/>
          </a:xfrm>
          <a:prstGeom prst="chevron">
            <a:avLst/>
          </a:prstGeom>
          <a:solidFill>
            <a:srgbClr val="B8C4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62" name="Rounded Rectangle 17461"/>
          <p:cNvSpPr/>
          <p:nvPr/>
        </p:nvSpPr>
        <p:spPr>
          <a:xfrm>
            <a:off x="8750808" y="5303520"/>
            <a:ext cx="3026664" cy="877824"/>
          </a:xfrm>
          <a:prstGeom prst="roundRect">
            <a:avLst>
              <a:gd name="adj" fmla="val 14000"/>
            </a:avLst>
          </a:prstGeom>
          <a:solidFill>
            <a:srgbClr val="EA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63" name="Picture 17462" descr="check_g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60536" y="5605272"/>
            <a:ext cx="274320" cy="274320"/>
          </a:xfrm>
          <a:prstGeom prst="rect">
            <a:avLst/>
          </a:prstGeom>
        </p:spPr>
      </p:pic>
      <p:sp>
        <p:nvSpPr>
          <p:cNvPr id="17464" name="TextBox 17463"/>
          <p:cNvSpPr txBox="1"/>
          <p:nvPr/>
        </p:nvSpPr>
        <p:spPr>
          <a:xfrm>
            <a:off x="9226296" y="5358383"/>
            <a:ext cx="2459736" cy="768096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Swap to CC-BY voices trained on SYSPIN / IndicVoices-R before deployment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28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z="1200" b="1">
                <a:solidFill>
                  <a:srgbClr val="1F3B73"/>
                </a:solidFill>
              </a:rPr>
              <a:t>Hexabits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ounded Rectangle 17409"/>
          <p:cNvSpPr/>
          <p:nvPr/>
        </p:nvSpPr>
        <p:spPr>
          <a:xfrm>
            <a:off x="411480" y="1170432"/>
            <a:ext cx="2772918" cy="987552"/>
          </a:xfrm>
          <a:prstGeom prst="roundRect">
            <a:avLst>
              <a:gd name="adj" fmla="val 14000"/>
            </a:avLst>
          </a:prstGeom>
          <a:solidFill>
            <a:srgbClr val="F4F6F9"/>
          </a:solidFill>
          <a:ln w="9525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1" name="TextBox 17410"/>
          <p:cNvSpPr txBox="1"/>
          <p:nvPr/>
        </p:nvSpPr>
        <p:spPr>
          <a:xfrm>
            <a:off x="576072" y="1188720"/>
            <a:ext cx="1033271" cy="950976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000" b="1" i="0">
                <a:solidFill>
                  <a:srgbClr val="E8711A"/>
                </a:solidFill>
                <a:latin typeface="Calibri"/>
              </a:rPr>
              <a:t>85%</a:t>
            </a:r>
          </a:p>
        </p:txBody>
      </p:sp>
      <p:sp>
        <p:nvSpPr>
          <p:cNvPr id="17412" name="TextBox 17411"/>
          <p:cNvSpPr txBox="1"/>
          <p:nvPr/>
        </p:nvSpPr>
        <p:spPr>
          <a:xfrm>
            <a:off x="1627631" y="1188720"/>
            <a:ext cx="1447037" cy="950976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of Indians speak one of our 10 languages as mother tongue (Census 2011)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3275838" y="1170432"/>
            <a:ext cx="2772918" cy="987552"/>
          </a:xfrm>
          <a:prstGeom prst="roundRect">
            <a:avLst>
              <a:gd name="adj" fmla="val 14000"/>
            </a:avLst>
          </a:prstGeom>
          <a:solidFill>
            <a:srgbClr val="F4F6F9"/>
          </a:solidFill>
          <a:ln w="9525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4" name="TextBox 17413"/>
          <p:cNvSpPr txBox="1"/>
          <p:nvPr/>
        </p:nvSpPr>
        <p:spPr>
          <a:xfrm>
            <a:off x="3440430" y="1188720"/>
            <a:ext cx="1271016" cy="950976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000" b="1" i="0">
                <a:solidFill>
                  <a:srgbClr val="1F3B73"/>
                </a:solidFill>
                <a:latin typeface="Calibri"/>
              </a:rPr>
              <a:t>~26%</a:t>
            </a:r>
          </a:p>
        </p:txBody>
      </p:sp>
      <p:sp>
        <p:nvSpPr>
          <p:cNvPr id="17415" name="TextBox 17414"/>
          <p:cNvSpPr txBox="1"/>
          <p:nvPr/>
        </p:nvSpPr>
        <p:spPr>
          <a:xfrm>
            <a:off x="4729734" y="1188720"/>
            <a:ext cx="1209293" cy="950976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of Indians aged 7+ cannot read; voice still reaches them (Census 2011)</a:t>
            </a:r>
          </a:p>
        </p:txBody>
      </p:sp>
      <p:sp>
        <p:nvSpPr>
          <p:cNvPr id="17416" name="Rounded Rectangle 17415"/>
          <p:cNvSpPr/>
          <p:nvPr/>
        </p:nvSpPr>
        <p:spPr>
          <a:xfrm>
            <a:off x="6140196" y="1170432"/>
            <a:ext cx="2772918" cy="987552"/>
          </a:xfrm>
          <a:prstGeom prst="roundRect">
            <a:avLst>
              <a:gd name="adj" fmla="val 14000"/>
            </a:avLst>
          </a:prstGeom>
          <a:solidFill>
            <a:srgbClr val="F4F6F9"/>
          </a:solidFill>
          <a:ln w="9525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7" name="TextBox 17416"/>
          <p:cNvSpPr txBox="1"/>
          <p:nvPr/>
        </p:nvSpPr>
        <p:spPr>
          <a:xfrm>
            <a:off x="6304788" y="1188720"/>
            <a:ext cx="557784" cy="950976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000" b="1" i="0">
                <a:solidFill>
                  <a:srgbClr val="1E8E3E"/>
                </a:solidFill>
                <a:latin typeface="Calibri"/>
              </a:rPr>
              <a:t>0</a:t>
            </a:r>
          </a:p>
        </p:txBody>
      </p:sp>
      <p:sp>
        <p:nvSpPr>
          <p:cNvPr id="17418" name="TextBox 17417"/>
          <p:cNvSpPr txBox="1"/>
          <p:nvPr/>
        </p:nvSpPr>
        <p:spPr>
          <a:xfrm>
            <a:off x="6880860" y="1188720"/>
            <a:ext cx="1922526" cy="950976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towers, internet, SIM cards or servers needed</a:t>
            </a:r>
          </a:p>
        </p:txBody>
      </p:sp>
      <p:sp>
        <p:nvSpPr>
          <p:cNvPr id="17419" name="Rounded Rectangle 17418"/>
          <p:cNvSpPr/>
          <p:nvPr/>
        </p:nvSpPr>
        <p:spPr>
          <a:xfrm>
            <a:off x="9004553" y="1170432"/>
            <a:ext cx="2772918" cy="987552"/>
          </a:xfrm>
          <a:prstGeom prst="roundRect">
            <a:avLst>
              <a:gd name="adj" fmla="val 14000"/>
            </a:avLst>
          </a:prstGeom>
          <a:solidFill>
            <a:srgbClr val="F4F6F9"/>
          </a:solidFill>
          <a:ln w="9525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20" name="TextBox 17419"/>
          <p:cNvSpPr txBox="1"/>
          <p:nvPr/>
        </p:nvSpPr>
        <p:spPr>
          <a:xfrm>
            <a:off x="9169145" y="1188720"/>
            <a:ext cx="795528" cy="950976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000" b="1" i="0">
                <a:solidFill>
                  <a:srgbClr val="0070C0"/>
                </a:solidFill>
                <a:latin typeface="Calibri"/>
              </a:rPr>
              <a:t>₹0</a:t>
            </a:r>
          </a:p>
        </p:txBody>
      </p:sp>
      <p:sp>
        <p:nvSpPr>
          <p:cNvPr id="17421" name="TextBox 17420"/>
          <p:cNvSpPr txBox="1"/>
          <p:nvPr/>
        </p:nvSpPr>
        <p:spPr>
          <a:xfrm>
            <a:off x="9982961" y="1188720"/>
            <a:ext cx="1684781" cy="950976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data cost per message, on phones people already own</a:t>
            </a:r>
          </a:p>
        </p:txBody>
      </p:sp>
      <p:pic>
        <p:nvPicPr>
          <p:cNvPr id="17422" name="Picture 17421" descr="groups_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2304288"/>
            <a:ext cx="274320" cy="274320"/>
          </a:xfrm>
          <a:prstGeom prst="rect">
            <a:avLst/>
          </a:prstGeom>
        </p:spPr>
      </p:pic>
      <p:sp>
        <p:nvSpPr>
          <p:cNvPr id="17423" name="TextBox 17422"/>
          <p:cNvSpPr txBox="1"/>
          <p:nvPr/>
        </p:nvSpPr>
        <p:spPr>
          <a:xfrm>
            <a:off x="758952" y="2286000"/>
            <a:ext cx="5047488" cy="32918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500" b="1" i="0">
                <a:solidFill>
                  <a:srgbClr val="1F3B73"/>
                </a:solidFill>
                <a:latin typeface="Calibri"/>
              </a:rPr>
              <a:t>Potential impact on the target audience</a:t>
            </a:r>
          </a:p>
        </p:txBody>
      </p:sp>
      <p:pic>
        <p:nvPicPr>
          <p:cNvPr id="17424" name="Picture 17423" descr="impact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480" y="2651760"/>
            <a:ext cx="5349240" cy="3584448"/>
          </a:xfrm>
          <a:prstGeom prst="rect">
            <a:avLst/>
          </a:prstGeom>
        </p:spPr>
      </p:pic>
      <p:pic>
        <p:nvPicPr>
          <p:cNvPr id="17425" name="Picture 17424" descr="handshake_g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89320" y="2304288"/>
            <a:ext cx="274320" cy="274320"/>
          </a:xfrm>
          <a:prstGeom prst="rect">
            <a:avLst/>
          </a:prstGeom>
        </p:spPr>
      </p:pic>
      <p:sp>
        <p:nvSpPr>
          <p:cNvPr id="17426" name="TextBox 17425"/>
          <p:cNvSpPr txBox="1"/>
          <p:nvPr/>
        </p:nvSpPr>
        <p:spPr>
          <a:xfrm>
            <a:off x="6336792" y="2286000"/>
            <a:ext cx="5440680" cy="32918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500" b="1" i="0">
                <a:solidFill>
                  <a:srgbClr val="1F3B73"/>
                </a:solidFill>
                <a:latin typeface="Calibri"/>
              </a:rPr>
              <a:t>Benefits of the solution</a:t>
            </a:r>
          </a:p>
        </p:txBody>
      </p:sp>
      <p:sp>
        <p:nvSpPr>
          <p:cNvPr id="17427" name="Rounded Rectangle 17426"/>
          <p:cNvSpPr/>
          <p:nvPr/>
        </p:nvSpPr>
        <p:spPr>
          <a:xfrm>
            <a:off x="5989320" y="2651760"/>
            <a:ext cx="2839212" cy="1298448"/>
          </a:xfrm>
          <a:prstGeom prst="roundRect">
            <a:avLst>
              <a:gd name="adj" fmla="val 12000"/>
            </a:avLst>
          </a:prstGeom>
          <a:solidFill>
            <a:srgbClr val="FF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28" name="Oval 17427"/>
          <p:cNvSpPr/>
          <p:nvPr/>
        </p:nvSpPr>
        <p:spPr>
          <a:xfrm>
            <a:off x="6117336" y="2779776"/>
            <a:ext cx="457200" cy="457200"/>
          </a:xfrm>
          <a:prstGeom prst="ellipse">
            <a:avLst/>
          </a:prstGeom>
          <a:solidFill>
            <a:srgbClr val="E871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29" name="Picture 17428" descr="access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17920" y="2880360"/>
            <a:ext cx="256032" cy="256032"/>
          </a:xfrm>
          <a:prstGeom prst="rect">
            <a:avLst/>
          </a:prstGeom>
        </p:spPr>
      </p:pic>
      <p:sp>
        <p:nvSpPr>
          <p:cNvPr id="17430" name="TextBox 17429"/>
          <p:cNvSpPr txBox="1"/>
          <p:nvPr/>
        </p:nvSpPr>
        <p:spPr>
          <a:xfrm>
            <a:off x="6684264" y="2779776"/>
            <a:ext cx="2052828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300" b="1" i="0">
                <a:solidFill>
                  <a:srgbClr val="1F3B73"/>
                </a:solidFill>
                <a:latin typeface="Calibri"/>
              </a:rPr>
              <a:t>Social</a:t>
            </a:r>
          </a:p>
        </p:txBody>
      </p:sp>
      <p:sp>
        <p:nvSpPr>
          <p:cNvPr id="17431" name="TextBox 17430"/>
          <p:cNvSpPr txBox="1"/>
          <p:nvPr/>
        </p:nvSpPr>
        <p:spPr>
          <a:xfrm>
            <a:off x="6135624" y="3310128"/>
            <a:ext cx="2564892" cy="585215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Voice in 10 languages for non-literate, elderly and visually impaired people; no typing needed.</a:t>
            </a:r>
          </a:p>
        </p:txBody>
      </p:sp>
      <p:sp>
        <p:nvSpPr>
          <p:cNvPr id="17432" name="Rounded Rectangle 17431"/>
          <p:cNvSpPr/>
          <p:nvPr/>
        </p:nvSpPr>
        <p:spPr>
          <a:xfrm>
            <a:off x="8938260" y="2651760"/>
            <a:ext cx="2839212" cy="1298448"/>
          </a:xfrm>
          <a:prstGeom prst="roundRect">
            <a:avLst>
              <a:gd name="adj" fmla="val 12000"/>
            </a:avLst>
          </a:prstGeom>
          <a:solidFill>
            <a:srgbClr val="EA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33" name="Oval 17432"/>
          <p:cNvSpPr/>
          <p:nvPr/>
        </p:nvSpPr>
        <p:spPr>
          <a:xfrm>
            <a:off x="9066276" y="2779776"/>
            <a:ext cx="457200" cy="457200"/>
          </a:xfrm>
          <a:prstGeom prst="ellipse">
            <a:avLst/>
          </a:prstGeom>
          <a:solidFill>
            <a:srgbClr val="1E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34" name="Picture 17433" descr="rupee_w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66860" y="2880360"/>
            <a:ext cx="256032" cy="256032"/>
          </a:xfrm>
          <a:prstGeom prst="rect">
            <a:avLst/>
          </a:prstGeom>
        </p:spPr>
      </p:pic>
      <p:sp>
        <p:nvSpPr>
          <p:cNvPr id="17435" name="TextBox 17434"/>
          <p:cNvSpPr txBox="1"/>
          <p:nvPr/>
        </p:nvSpPr>
        <p:spPr>
          <a:xfrm>
            <a:off x="9633204" y="2779776"/>
            <a:ext cx="2052828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300" b="1" i="0">
                <a:solidFill>
                  <a:srgbClr val="1F3B73"/>
                </a:solidFill>
                <a:latin typeface="Calibri"/>
              </a:rPr>
              <a:t>Economic</a:t>
            </a:r>
          </a:p>
        </p:txBody>
      </p:sp>
      <p:sp>
        <p:nvSpPr>
          <p:cNvPr id="17436" name="TextBox 17435"/>
          <p:cNvSpPr txBox="1"/>
          <p:nvPr/>
        </p:nvSpPr>
        <p:spPr>
          <a:xfrm>
            <a:off x="9084564" y="3310128"/>
            <a:ext cx="2564892" cy="585215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Runs on existing low-cost phones; zero infrastructure, data or SMS cost; open models.</a:t>
            </a:r>
          </a:p>
        </p:txBody>
      </p:sp>
      <p:sp>
        <p:nvSpPr>
          <p:cNvPr id="17437" name="Rounded Rectangle 17436"/>
          <p:cNvSpPr/>
          <p:nvPr/>
        </p:nvSpPr>
        <p:spPr>
          <a:xfrm>
            <a:off x="5989320" y="4041648"/>
            <a:ext cx="2839212" cy="1298448"/>
          </a:xfrm>
          <a:prstGeom prst="roundRect">
            <a:avLst>
              <a:gd name="adj" fmla="val 12000"/>
            </a:avLst>
          </a:prstGeom>
          <a:solidFill>
            <a:srgbClr val="EA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38" name="Oval 17437"/>
          <p:cNvSpPr/>
          <p:nvPr/>
        </p:nvSpPr>
        <p:spPr>
          <a:xfrm>
            <a:off x="6117336" y="4169663"/>
            <a:ext cx="457200" cy="457200"/>
          </a:xfrm>
          <a:prstGeom prst="ellipse">
            <a:avLst/>
          </a:prstGeom>
          <a:solidFill>
            <a:srgbClr val="1E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39" name="Picture 17438" descr="eco_w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17920" y="4270248"/>
            <a:ext cx="256032" cy="256032"/>
          </a:xfrm>
          <a:prstGeom prst="rect">
            <a:avLst/>
          </a:prstGeom>
        </p:spPr>
      </p:pic>
      <p:sp>
        <p:nvSpPr>
          <p:cNvPr id="17440" name="TextBox 17439"/>
          <p:cNvSpPr txBox="1"/>
          <p:nvPr/>
        </p:nvSpPr>
        <p:spPr>
          <a:xfrm>
            <a:off x="6684264" y="4169663"/>
            <a:ext cx="2052828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300" b="1" i="0">
                <a:solidFill>
                  <a:srgbClr val="1F3B73"/>
                </a:solidFill>
                <a:latin typeface="Calibri"/>
              </a:rPr>
              <a:t>Environmental</a:t>
            </a:r>
          </a:p>
        </p:txBody>
      </p:sp>
      <p:sp>
        <p:nvSpPr>
          <p:cNvPr id="17441" name="TextBox 17440"/>
          <p:cNvSpPr txBox="1"/>
          <p:nvPr/>
        </p:nvSpPr>
        <p:spPr>
          <a:xfrm>
            <a:off x="6135624" y="4700016"/>
            <a:ext cx="2564892" cy="585215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No diesel towers or generators; low-power Bluetooth saves battery in long outages.</a:t>
            </a:r>
          </a:p>
        </p:txBody>
      </p:sp>
      <p:sp>
        <p:nvSpPr>
          <p:cNvPr id="17442" name="Rounded Rectangle 17441"/>
          <p:cNvSpPr/>
          <p:nvPr/>
        </p:nvSpPr>
        <p:spPr>
          <a:xfrm>
            <a:off x="8938260" y="4041648"/>
            <a:ext cx="2839212" cy="1298448"/>
          </a:xfrm>
          <a:prstGeom prst="roundRect">
            <a:avLst>
              <a:gd name="adj" fmla="val 12000"/>
            </a:avLst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43" name="Oval 17442"/>
          <p:cNvSpPr/>
          <p:nvPr/>
        </p:nvSpPr>
        <p:spPr>
          <a:xfrm>
            <a:off x="9066276" y="4169663"/>
            <a:ext cx="457200" cy="457200"/>
          </a:xfrm>
          <a:prstGeom prst="ellipse">
            <a:avLst/>
          </a:prstGeom>
          <a:solidFill>
            <a:srgbClr val="1F3B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44" name="Picture 17443" descr="satellite_w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166860" y="4270248"/>
            <a:ext cx="256032" cy="256032"/>
          </a:xfrm>
          <a:prstGeom prst="rect">
            <a:avLst/>
          </a:prstGeom>
        </p:spPr>
      </p:pic>
      <p:sp>
        <p:nvSpPr>
          <p:cNvPr id="17445" name="TextBox 17444"/>
          <p:cNvSpPr txBox="1"/>
          <p:nvPr/>
        </p:nvSpPr>
        <p:spPr>
          <a:xfrm>
            <a:off x="9633204" y="4169663"/>
            <a:ext cx="2052828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300" b="1" i="0">
                <a:solidFill>
                  <a:srgbClr val="1F3B73"/>
                </a:solidFill>
                <a:latin typeface="Calibri"/>
              </a:rPr>
              <a:t>Strategic (ISRO)</a:t>
            </a:r>
          </a:p>
        </p:txBody>
      </p:sp>
      <p:sp>
        <p:nvSpPr>
          <p:cNvPr id="17446" name="TextBox 17445"/>
          <p:cNvSpPr txBox="1"/>
          <p:nvPr/>
        </p:nvSpPr>
        <p:spPr>
          <a:xfrm>
            <a:off x="9084564" y="4700016"/>
            <a:ext cx="2564892" cy="585215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Byte-sized frames suit NavIC messaging and LoRa links; data never leaves Indian devices.</a:t>
            </a:r>
          </a:p>
        </p:txBody>
      </p:sp>
      <p:sp>
        <p:nvSpPr>
          <p:cNvPr id="17447" name="Rounded Rectangle 17446"/>
          <p:cNvSpPr/>
          <p:nvPr/>
        </p:nvSpPr>
        <p:spPr>
          <a:xfrm>
            <a:off x="5989320" y="5431536"/>
            <a:ext cx="5788152" cy="804672"/>
          </a:xfrm>
          <a:prstGeom prst="roundRect">
            <a:avLst>
              <a:gd name="adj" fmla="val 20000"/>
            </a:avLst>
          </a:prstGeom>
          <a:solidFill>
            <a:srgbClr val="1F3B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48" name="Picture 17447" descr="rocket_w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135624" y="5678424"/>
            <a:ext cx="310896" cy="310896"/>
          </a:xfrm>
          <a:prstGeom prst="rect">
            <a:avLst/>
          </a:prstGeom>
        </p:spPr>
      </p:pic>
      <p:sp>
        <p:nvSpPr>
          <p:cNvPr id="17449" name="TextBox 17448"/>
          <p:cNvSpPr txBox="1"/>
          <p:nvPr/>
        </p:nvSpPr>
        <p:spPr>
          <a:xfrm>
            <a:off x="6556248" y="5431536"/>
            <a:ext cx="5111496" cy="804672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Next:  </a:t>
            </a:r>
            <a:r>
              <a:rPr sz="1050" b="0" i="0">
                <a:solidFill>
                  <a:srgbClr val="DCE6F5"/>
                </a:solidFill>
                <a:latin typeface="Calibri"/>
              </a:rPr>
              <a:t>"heard by N phones" receipts  •  SMS gateway when any phone regains signal  •  voice-preserving prosody  •  10-phone field trial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28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z="1200" b="1">
                <a:solidFill>
                  <a:srgbClr val="1F3B73"/>
                </a:solidFill>
              </a:rPr>
              <a:t>Hexabits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7410" name="Picture 17409" descr="book_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1161288"/>
            <a:ext cx="274320" cy="274320"/>
          </a:xfrm>
          <a:prstGeom prst="rect">
            <a:avLst/>
          </a:prstGeom>
        </p:spPr>
      </p:pic>
      <p:sp>
        <p:nvSpPr>
          <p:cNvPr id="17411" name="TextBox 17410"/>
          <p:cNvSpPr txBox="1"/>
          <p:nvPr/>
        </p:nvSpPr>
        <p:spPr>
          <a:xfrm>
            <a:off x="758952" y="1143000"/>
            <a:ext cx="10991088" cy="32918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500" b="1" i="0">
                <a:solidFill>
                  <a:srgbClr val="1F3B73"/>
                </a:solidFill>
                <a:latin typeface="Calibri"/>
              </a:rPr>
              <a:t>Details / Links of the reference and research work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411480" y="1554480"/>
            <a:ext cx="3697223" cy="3401568"/>
          </a:xfrm>
          <a:prstGeom prst="roundRect">
            <a:avLst>
              <a:gd name="adj" fmla="val 8000"/>
            </a:avLst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3" name="Oval 17412"/>
          <p:cNvSpPr/>
          <p:nvPr/>
        </p:nvSpPr>
        <p:spPr>
          <a:xfrm>
            <a:off x="594360" y="1682496"/>
            <a:ext cx="457200" cy="457200"/>
          </a:xfrm>
          <a:prstGeom prst="ellipse">
            <a:avLst/>
          </a:prstGeom>
          <a:solidFill>
            <a:srgbClr val="1F3B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14" name="Picture 17413" descr="layers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944" y="1783080"/>
            <a:ext cx="256032" cy="256032"/>
          </a:xfrm>
          <a:prstGeom prst="rect">
            <a:avLst/>
          </a:prstGeom>
        </p:spPr>
      </p:pic>
      <p:sp>
        <p:nvSpPr>
          <p:cNvPr id="17415" name="TextBox 17414"/>
          <p:cNvSpPr txBox="1"/>
          <p:nvPr/>
        </p:nvSpPr>
        <p:spPr>
          <a:xfrm>
            <a:off x="1161288" y="1682496"/>
            <a:ext cx="2782823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400" b="1" i="0">
                <a:solidFill>
                  <a:srgbClr val="1F3B73"/>
                </a:solidFill>
                <a:latin typeface="Calibri"/>
              </a:rPr>
              <a:t>Models and tools</a:t>
            </a:r>
          </a:p>
        </p:txBody>
      </p:sp>
      <p:sp>
        <p:nvSpPr>
          <p:cNvPr id="17416" name="TextBox 17415"/>
          <p:cNvSpPr txBox="1"/>
          <p:nvPr/>
        </p:nvSpPr>
        <p:spPr>
          <a:xfrm>
            <a:off x="612648" y="2240280"/>
            <a:ext cx="3331464" cy="53035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50" b="1" i="0">
                <a:solidFill>
                  <a:srgbClr val="1E293B"/>
                </a:solidFill>
                <a:latin typeface="Calibri"/>
              </a:rPr>
              <a:t>AI4Bharat IndicConformer ASR (MIT)</a:t>
            </a:r>
          </a:p>
          <a:p>
            <a:pPr algn="l"/>
            <a:r>
              <a:rPr sz="900" b="0" i="0">
                <a:solidFill>
                  <a:srgbClr val="0070C0"/>
                </a:solidFill>
                <a:latin typeface="Calibri"/>
                <a:hlinkClick r:id="rId6"/>
              </a:rPr>
              <a:t>github.com/AI4Bharat/IndicConformerASR</a:t>
            </a:r>
          </a:p>
        </p:txBody>
      </p:sp>
      <p:sp>
        <p:nvSpPr>
          <p:cNvPr id="17417" name="TextBox 17416"/>
          <p:cNvSpPr txBox="1"/>
          <p:nvPr/>
        </p:nvSpPr>
        <p:spPr>
          <a:xfrm>
            <a:off x="612648" y="2788920"/>
            <a:ext cx="3331464" cy="53035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50" b="1" i="0">
                <a:solidFill>
                  <a:srgbClr val="1E293B"/>
                </a:solidFill>
                <a:latin typeface="Calibri"/>
              </a:rPr>
              <a:t>sherpa-onnx: offline speech runtime</a:t>
            </a:r>
          </a:p>
          <a:p>
            <a:pPr algn="l"/>
            <a:r>
              <a:rPr sz="900" b="0" i="0">
                <a:solidFill>
                  <a:srgbClr val="0070C0"/>
                </a:solidFill>
                <a:latin typeface="Calibri"/>
                <a:hlinkClick r:id="rId7"/>
              </a:rPr>
              <a:t>github.com/k2-fsa/sherpa-onnx</a:t>
            </a:r>
          </a:p>
        </p:txBody>
      </p:sp>
      <p:sp>
        <p:nvSpPr>
          <p:cNvPr id="17418" name="TextBox 17417"/>
          <p:cNvSpPr txBox="1"/>
          <p:nvPr/>
        </p:nvSpPr>
        <p:spPr>
          <a:xfrm>
            <a:off x="612648" y="3337560"/>
            <a:ext cx="3331464" cy="53035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50" b="1" i="0">
                <a:solidFill>
                  <a:srgbClr val="1E293B"/>
                </a:solidFill>
                <a:latin typeface="Calibri"/>
              </a:rPr>
              <a:t>Meta MMS-TTS voices (VITS)</a:t>
            </a:r>
          </a:p>
          <a:p>
            <a:pPr algn="l"/>
            <a:r>
              <a:rPr sz="900" b="0" i="0">
                <a:solidFill>
                  <a:srgbClr val="0070C0"/>
                </a:solidFill>
                <a:latin typeface="Calibri"/>
                <a:hlinkClick r:id="rId8"/>
              </a:rPr>
              <a:t>huggingface.co/facebook/mms-tts</a:t>
            </a:r>
          </a:p>
        </p:txBody>
      </p:sp>
      <p:sp>
        <p:nvSpPr>
          <p:cNvPr id="17419" name="TextBox 17418"/>
          <p:cNvSpPr txBox="1"/>
          <p:nvPr/>
        </p:nvSpPr>
        <p:spPr>
          <a:xfrm>
            <a:off x="612648" y="3886200"/>
            <a:ext cx="3331464" cy="53035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50" b="1" i="0">
                <a:solidFill>
                  <a:srgbClr val="1E293B"/>
                </a:solidFill>
                <a:latin typeface="Calibri"/>
              </a:rPr>
              <a:t>Silero VAD</a:t>
            </a:r>
          </a:p>
          <a:p>
            <a:pPr algn="l"/>
            <a:r>
              <a:rPr sz="900" b="0" i="0">
                <a:solidFill>
                  <a:srgbClr val="0070C0"/>
                </a:solidFill>
                <a:latin typeface="Calibri"/>
                <a:hlinkClick r:id="rId9"/>
              </a:rPr>
              <a:t>github.com/snakers4/silero-vad</a:t>
            </a:r>
          </a:p>
        </p:txBody>
      </p:sp>
      <p:sp>
        <p:nvSpPr>
          <p:cNvPr id="17420" name="TextBox 17419"/>
          <p:cNvSpPr txBox="1"/>
          <p:nvPr/>
        </p:nvSpPr>
        <p:spPr>
          <a:xfrm>
            <a:off x="612648" y="4434840"/>
            <a:ext cx="3331464" cy="53035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50" b="1" i="0">
                <a:solidFill>
                  <a:srgbClr val="1E293B"/>
                </a:solidFill>
                <a:latin typeface="Calibri"/>
              </a:rPr>
              <a:t>IndicConformer sherpa-onnx int8 exports</a:t>
            </a:r>
          </a:p>
          <a:p>
            <a:pPr algn="l"/>
            <a:r>
              <a:rPr sz="900" b="0" i="0">
                <a:solidFill>
                  <a:srgbClr val="0070C0"/>
                </a:solidFill>
                <a:latin typeface="Calibri"/>
                <a:hlinkClick r:id="rId10"/>
              </a:rPr>
              <a:t>huggingface.co/.../indicconformer-sherpa-onnx</a:t>
            </a:r>
          </a:p>
        </p:txBody>
      </p:sp>
      <p:sp>
        <p:nvSpPr>
          <p:cNvPr id="17421" name="Rounded Rectangle 17420"/>
          <p:cNvSpPr/>
          <p:nvPr/>
        </p:nvSpPr>
        <p:spPr>
          <a:xfrm>
            <a:off x="4245864" y="1554480"/>
            <a:ext cx="3697223" cy="3401568"/>
          </a:xfrm>
          <a:prstGeom prst="roundRect">
            <a:avLst>
              <a:gd name="adj" fmla="val 8000"/>
            </a:avLst>
          </a:prstGeom>
          <a:solidFill>
            <a:srgbClr val="FF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22" name="Oval 17421"/>
          <p:cNvSpPr/>
          <p:nvPr/>
        </p:nvSpPr>
        <p:spPr>
          <a:xfrm>
            <a:off x="4428744" y="1682496"/>
            <a:ext cx="457200" cy="457200"/>
          </a:xfrm>
          <a:prstGeom prst="ellipse">
            <a:avLst/>
          </a:prstGeom>
          <a:solidFill>
            <a:srgbClr val="E871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23" name="Picture 17422" descr="science_w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529328" y="1783080"/>
            <a:ext cx="256032" cy="256032"/>
          </a:xfrm>
          <a:prstGeom prst="rect">
            <a:avLst/>
          </a:prstGeom>
        </p:spPr>
      </p:pic>
      <p:sp>
        <p:nvSpPr>
          <p:cNvPr id="17424" name="TextBox 17423"/>
          <p:cNvSpPr txBox="1"/>
          <p:nvPr/>
        </p:nvSpPr>
        <p:spPr>
          <a:xfrm>
            <a:off x="4995672" y="1682496"/>
            <a:ext cx="2782823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400" b="1" i="0">
                <a:solidFill>
                  <a:srgbClr val="1F3B73"/>
                </a:solidFill>
                <a:latin typeface="Calibri"/>
              </a:rPr>
              <a:t>Research</a:t>
            </a:r>
          </a:p>
        </p:txBody>
      </p:sp>
      <p:sp>
        <p:nvSpPr>
          <p:cNvPr id="17425" name="TextBox 17424"/>
          <p:cNvSpPr txBox="1"/>
          <p:nvPr/>
        </p:nvSpPr>
        <p:spPr>
          <a:xfrm>
            <a:off x="4447032" y="2240280"/>
            <a:ext cx="3331464" cy="53035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50" b="1" i="0">
                <a:solidFill>
                  <a:srgbClr val="1E293B"/>
                </a:solidFill>
                <a:latin typeface="Calibri"/>
              </a:rPr>
              <a:t>IndicVoices: multilingual Indian speech (ACL 2024)</a:t>
            </a:r>
          </a:p>
          <a:p>
            <a:pPr algn="l"/>
            <a:r>
              <a:rPr sz="900" b="0" i="0">
                <a:solidFill>
                  <a:srgbClr val="0070C0"/>
                </a:solidFill>
                <a:latin typeface="Calibri"/>
                <a:hlinkClick r:id="rId12"/>
              </a:rPr>
              <a:t>arxiv.org/abs/2403.01926</a:t>
            </a:r>
          </a:p>
        </p:txBody>
      </p:sp>
      <p:sp>
        <p:nvSpPr>
          <p:cNvPr id="17426" name="TextBox 17425"/>
          <p:cNvSpPr txBox="1"/>
          <p:nvPr/>
        </p:nvSpPr>
        <p:spPr>
          <a:xfrm>
            <a:off x="4447032" y="2788920"/>
            <a:ext cx="3331464" cy="53035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50" b="1" i="0">
                <a:solidFill>
                  <a:srgbClr val="1E293B"/>
                </a:solidFill>
                <a:latin typeface="Calibri"/>
              </a:rPr>
              <a:t>STCTS: speech at 80 bps via text + prosody</a:t>
            </a:r>
          </a:p>
          <a:p>
            <a:pPr algn="l"/>
            <a:r>
              <a:rPr sz="900" b="0" i="0">
                <a:solidFill>
                  <a:srgbClr val="0070C0"/>
                </a:solidFill>
                <a:latin typeface="Calibri"/>
                <a:hlinkClick r:id="rId13"/>
              </a:rPr>
              <a:t>arxiv.org/abs/2512.00451</a:t>
            </a:r>
          </a:p>
        </p:txBody>
      </p:sp>
      <p:sp>
        <p:nvSpPr>
          <p:cNvPr id="17427" name="TextBox 17426"/>
          <p:cNvSpPr txBox="1"/>
          <p:nvPr/>
        </p:nvSpPr>
        <p:spPr>
          <a:xfrm>
            <a:off x="4447032" y="3337560"/>
            <a:ext cx="3331464" cy="53035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50" b="1" i="0">
                <a:solidFill>
                  <a:srgbClr val="1E293B"/>
                </a:solidFill>
                <a:latin typeface="Calibri"/>
              </a:rPr>
              <a:t>IndicVoices-R: Indian TTS corpus (NeurIPS 2024)</a:t>
            </a:r>
          </a:p>
          <a:p>
            <a:pPr algn="l"/>
            <a:r>
              <a:rPr sz="900" b="0" i="0">
                <a:solidFill>
                  <a:srgbClr val="0070C0"/>
                </a:solidFill>
                <a:latin typeface="Calibri"/>
                <a:hlinkClick r:id="rId14"/>
              </a:rPr>
              <a:t>github.com/AI4Bharat/IndicVoices-R</a:t>
            </a:r>
          </a:p>
        </p:txBody>
      </p:sp>
      <p:sp>
        <p:nvSpPr>
          <p:cNvPr id="17428" name="TextBox 17427"/>
          <p:cNvSpPr txBox="1"/>
          <p:nvPr/>
        </p:nvSpPr>
        <p:spPr>
          <a:xfrm>
            <a:off x="4447032" y="3886200"/>
            <a:ext cx="3331464" cy="53035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50" b="1" i="0">
                <a:solidFill>
                  <a:srgbClr val="1E293B"/>
                </a:solidFill>
                <a:latin typeface="Calibri"/>
              </a:rPr>
              <a:t>BitChat mesh protocol whitepaper</a:t>
            </a:r>
          </a:p>
          <a:p>
            <a:pPr algn="l"/>
            <a:r>
              <a:rPr sz="900" b="0" i="0">
                <a:solidFill>
                  <a:srgbClr val="0070C0"/>
                </a:solidFill>
                <a:latin typeface="Calibri"/>
                <a:hlinkClick r:id="rId15"/>
              </a:rPr>
              <a:t>github.com/permissionlesstech/bitchat</a:t>
            </a:r>
          </a:p>
        </p:txBody>
      </p:sp>
      <p:sp>
        <p:nvSpPr>
          <p:cNvPr id="17429" name="TextBox 17428"/>
          <p:cNvSpPr txBox="1"/>
          <p:nvPr/>
        </p:nvSpPr>
        <p:spPr>
          <a:xfrm>
            <a:off x="4447032" y="4434840"/>
            <a:ext cx="3331464" cy="53035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50" b="1" i="0">
                <a:solidFill>
                  <a:srgbClr val="1E293B"/>
                </a:solidFill>
                <a:latin typeface="Calibri"/>
              </a:rPr>
              <a:t>SYSPIN: open CC-BY Indian TTS dataset (IISc)</a:t>
            </a:r>
          </a:p>
          <a:p>
            <a:pPr algn="l"/>
            <a:r>
              <a:rPr sz="900" b="0" i="0">
                <a:solidFill>
                  <a:srgbClr val="0070C0"/>
                </a:solidFill>
                <a:latin typeface="Calibri"/>
                <a:hlinkClick r:id="rId16"/>
              </a:rPr>
              <a:t>vaani.iisc.ac.in/dataset/syspindataset</a:t>
            </a:r>
          </a:p>
        </p:txBody>
      </p:sp>
      <p:sp>
        <p:nvSpPr>
          <p:cNvPr id="17430" name="Rounded Rectangle 17429"/>
          <p:cNvSpPr/>
          <p:nvPr/>
        </p:nvSpPr>
        <p:spPr>
          <a:xfrm>
            <a:off x="8080247" y="1554480"/>
            <a:ext cx="3697223" cy="3401568"/>
          </a:xfrm>
          <a:prstGeom prst="roundRect">
            <a:avLst>
              <a:gd name="adj" fmla="val 8000"/>
            </a:avLst>
          </a:prstGeom>
          <a:solidFill>
            <a:srgbClr val="EA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31" name="Oval 17430"/>
          <p:cNvSpPr/>
          <p:nvPr/>
        </p:nvSpPr>
        <p:spPr>
          <a:xfrm>
            <a:off x="8263127" y="1682496"/>
            <a:ext cx="457200" cy="457200"/>
          </a:xfrm>
          <a:prstGeom prst="ellipse">
            <a:avLst/>
          </a:prstGeom>
          <a:solidFill>
            <a:srgbClr val="1E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32" name="Picture 17431" descr="public_w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363711" y="1783080"/>
            <a:ext cx="256032" cy="256032"/>
          </a:xfrm>
          <a:prstGeom prst="rect">
            <a:avLst/>
          </a:prstGeom>
        </p:spPr>
      </p:pic>
      <p:sp>
        <p:nvSpPr>
          <p:cNvPr id="17433" name="TextBox 17432"/>
          <p:cNvSpPr txBox="1"/>
          <p:nvPr/>
        </p:nvSpPr>
        <p:spPr>
          <a:xfrm>
            <a:off x="8830056" y="1682496"/>
            <a:ext cx="2782823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400" b="1" i="0">
                <a:solidFill>
                  <a:srgbClr val="1F3B73"/>
                </a:solidFill>
                <a:latin typeface="Calibri"/>
              </a:rPr>
              <a:t>Real-world evidence</a:t>
            </a:r>
          </a:p>
        </p:txBody>
      </p:sp>
      <p:sp>
        <p:nvSpPr>
          <p:cNvPr id="17434" name="TextBox 17433"/>
          <p:cNvSpPr txBox="1"/>
          <p:nvPr/>
        </p:nvSpPr>
        <p:spPr>
          <a:xfrm>
            <a:off x="8281416" y="2240280"/>
            <a:ext cx="3331464" cy="53035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50" b="1" i="0">
                <a:solidFill>
                  <a:srgbClr val="1E293B"/>
                </a:solidFill>
                <a:latin typeface="Calibri"/>
              </a:rPr>
              <a:t>FireChat mesh, Hong Kong 2014 (500k installs)</a:t>
            </a:r>
          </a:p>
          <a:p>
            <a:pPr algn="l"/>
            <a:r>
              <a:rPr sz="900" b="0" i="0">
                <a:solidFill>
                  <a:srgbClr val="0070C0"/>
                </a:solidFill>
                <a:latin typeface="Calibri"/>
                <a:hlinkClick r:id="rId18"/>
              </a:rPr>
              <a:t>en.wikipedia.org/wiki/FireChat</a:t>
            </a:r>
          </a:p>
        </p:txBody>
      </p:sp>
      <p:sp>
        <p:nvSpPr>
          <p:cNvPr id="17435" name="TextBox 17434"/>
          <p:cNvSpPr txBox="1"/>
          <p:nvPr/>
        </p:nvSpPr>
        <p:spPr>
          <a:xfrm>
            <a:off x="8281416" y="2788920"/>
            <a:ext cx="3331464" cy="53035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50" b="1" i="0">
                <a:solidFill>
                  <a:srgbClr val="1E293B"/>
                </a:solidFill>
                <a:latin typeface="Calibri"/>
              </a:rPr>
              <a:t>BitChat in Nepal 2025: 48,781 installs in a day</a:t>
            </a:r>
          </a:p>
          <a:p>
            <a:pPr algn="l"/>
            <a:r>
              <a:rPr sz="900" b="0" i="0">
                <a:solidFill>
                  <a:srgbClr val="0070C0"/>
                </a:solidFill>
                <a:latin typeface="Calibri"/>
                <a:hlinkClick r:id="rId19"/>
              </a:rPr>
              <a:t>forbes.com (Sep 11, 2025)</a:t>
            </a:r>
          </a:p>
        </p:txBody>
      </p:sp>
      <p:sp>
        <p:nvSpPr>
          <p:cNvPr id="17436" name="TextBox 17435"/>
          <p:cNvSpPr txBox="1"/>
          <p:nvPr/>
        </p:nvSpPr>
        <p:spPr>
          <a:xfrm>
            <a:off x="8281416" y="3337560"/>
            <a:ext cx="3331464" cy="53035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50" b="1" i="0">
                <a:solidFill>
                  <a:srgbClr val="1E293B"/>
                </a:solidFill>
                <a:latin typeface="Calibri"/>
              </a:rPr>
              <a:t>Census of India 2011: languages, literacy</a:t>
            </a:r>
          </a:p>
          <a:p>
            <a:pPr algn="l"/>
            <a:r>
              <a:rPr sz="900" b="0" i="0">
                <a:solidFill>
                  <a:srgbClr val="0070C0"/>
                </a:solidFill>
                <a:latin typeface="Calibri"/>
                <a:hlinkClick r:id="rId20"/>
              </a:rPr>
              <a:t>censusindia.gov.in</a:t>
            </a:r>
          </a:p>
        </p:txBody>
      </p:sp>
      <p:sp>
        <p:nvSpPr>
          <p:cNvPr id="17437" name="TextBox 17436"/>
          <p:cNvSpPr txBox="1"/>
          <p:nvPr/>
        </p:nvSpPr>
        <p:spPr>
          <a:xfrm>
            <a:off x="8281416" y="3886200"/>
            <a:ext cx="3331464" cy="53035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50" b="1" i="0">
                <a:solidFill>
                  <a:srgbClr val="1E293B"/>
                </a:solidFill>
                <a:latin typeface="Calibri"/>
              </a:rPr>
              <a:t>NDMA: disaster management in India</a:t>
            </a:r>
          </a:p>
          <a:p>
            <a:pPr algn="l"/>
            <a:r>
              <a:rPr sz="900" b="0" i="0">
                <a:solidFill>
                  <a:srgbClr val="0070C0"/>
                </a:solidFill>
                <a:latin typeface="Calibri"/>
                <a:hlinkClick r:id="rId21"/>
              </a:rPr>
              <a:t>ndma.gov.in</a:t>
            </a:r>
          </a:p>
        </p:txBody>
      </p:sp>
      <p:sp>
        <p:nvSpPr>
          <p:cNvPr id="17438" name="TextBox 17437"/>
          <p:cNvSpPr txBox="1"/>
          <p:nvPr/>
        </p:nvSpPr>
        <p:spPr>
          <a:xfrm>
            <a:off x="8281416" y="4434840"/>
            <a:ext cx="3331464" cy="53035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50" b="1" i="0">
                <a:solidFill>
                  <a:srgbClr val="1E293B"/>
                </a:solidFill>
                <a:latin typeface="Calibri"/>
              </a:rPr>
              <a:t>Bridgefy offline mesh adds E2E encryption (2020)</a:t>
            </a:r>
          </a:p>
          <a:p>
            <a:pPr algn="l"/>
            <a:r>
              <a:rPr sz="900" b="0" i="0">
                <a:solidFill>
                  <a:srgbClr val="0070C0"/>
                </a:solidFill>
                <a:latin typeface="Calibri"/>
                <a:hlinkClick r:id="rId22"/>
              </a:rPr>
              <a:t>techcrunch.com (Nov 2, 2020)</a:t>
            </a:r>
          </a:p>
        </p:txBody>
      </p:sp>
      <p:sp>
        <p:nvSpPr>
          <p:cNvPr id="17439" name="Rounded Rectangle 17438"/>
          <p:cNvSpPr/>
          <p:nvPr/>
        </p:nvSpPr>
        <p:spPr>
          <a:xfrm>
            <a:off x="411480" y="5102352"/>
            <a:ext cx="11365992" cy="1143000"/>
          </a:xfrm>
          <a:prstGeom prst="roundRect">
            <a:avLst>
              <a:gd name="adj" fmla="val 14000"/>
            </a:avLst>
          </a:prstGeom>
          <a:solidFill>
            <a:srgbClr val="F4F6F9"/>
          </a:solidFill>
          <a:ln w="9525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40" name="Picture 17439" descr="logo-itantra-v1-20260930-170705-transparent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548640" y="5166360"/>
            <a:ext cx="1005840" cy="1005840"/>
          </a:xfrm>
          <a:prstGeom prst="rect">
            <a:avLst/>
          </a:prstGeom>
        </p:spPr>
      </p:pic>
      <p:sp>
        <p:nvSpPr>
          <p:cNvPr id="17441" name="TextBox 17440"/>
          <p:cNvSpPr txBox="1"/>
          <p:nvPr/>
        </p:nvSpPr>
        <p:spPr>
          <a:xfrm>
            <a:off x="1691640" y="5230368"/>
            <a:ext cx="4572000" cy="9144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1" i="0">
                <a:solidFill>
                  <a:srgbClr val="1F3B73"/>
                </a:solidFill>
                <a:latin typeface="Calibri"/>
              </a:rPr>
              <a:t>Our work is open source</a:t>
            </a:r>
          </a:p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Android app, mesh protocol spec and model tooling, plus 20 ready language packs (10 STT + 10 TTS) verified end to end.</a:t>
            </a:r>
          </a:p>
        </p:txBody>
      </p:sp>
      <p:pic>
        <p:nvPicPr>
          <p:cNvPr id="17442" name="Picture 17441" descr="image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172200" y="5193792"/>
            <a:ext cx="960120" cy="960120"/>
          </a:xfrm>
          <a:prstGeom prst="rect">
            <a:avLst/>
          </a:prstGeom>
        </p:spPr>
      </p:pic>
      <p:sp>
        <p:nvSpPr>
          <p:cNvPr id="17443" name="TextBox 17442"/>
          <p:cNvSpPr txBox="1"/>
          <p:nvPr/>
        </p:nvSpPr>
        <p:spPr>
          <a:xfrm>
            <a:off x="7223760" y="5248656"/>
            <a:ext cx="1691640" cy="9144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1F3B73"/>
                </a:solidFill>
                <a:latin typeface="Calibri"/>
              </a:rPr>
              <a:t>App source code</a:t>
            </a:r>
          </a:p>
          <a:p>
            <a:pPr algn="l"/>
            <a:r>
              <a:rPr sz="900" b="0" i="0">
                <a:solidFill>
                  <a:srgbClr val="0070C0"/>
                </a:solidFill>
                <a:latin typeface="Calibri"/>
                <a:hlinkClick r:id="rId25"/>
              </a:rPr>
              <a:t>github.com/nileshpatil6/</a:t>
            </a:r>
          </a:p>
          <a:p>
            <a:pPr algn="l"/>
            <a:r>
              <a:rPr sz="900" b="0" i="0">
                <a:solidFill>
                  <a:srgbClr val="0070C0"/>
                </a:solidFill>
                <a:latin typeface="Calibri"/>
                <a:hlinkClick r:id="rId25"/>
              </a:rPr>
              <a:t>SIH-Hexabits</a:t>
            </a:r>
          </a:p>
        </p:txBody>
      </p:sp>
      <p:pic>
        <p:nvPicPr>
          <p:cNvPr id="17444" name="Picture 17443" descr="image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8961120" y="5193792"/>
            <a:ext cx="960120" cy="960120"/>
          </a:xfrm>
          <a:prstGeom prst="rect">
            <a:avLst/>
          </a:prstGeom>
        </p:spPr>
      </p:pic>
      <p:sp>
        <p:nvSpPr>
          <p:cNvPr id="17445" name="TextBox 17444"/>
          <p:cNvSpPr txBox="1"/>
          <p:nvPr/>
        </p:nvSpPr>
        <p:spPr>
          <a:xfrm>
            <a:off x="10012680" y="5248656"/>
            <a:ext cx="1691640" cy="9144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1F3B73"/>
                </a:solidFill>
                <a:latin typeface="Calibri"/>
              </a:rPr>
              <a:t>Offline model packs</a:t>
            </a:r>
          </a:p>
          <a:p>
            <a:pPr algn="l"/>
            <a:r>
              <a:rPr sz="900" b="0" i="0">
                <a:solidFill>
                  <a:srgbClr val="0070C0"/>
                </a:solidFill>
                <a:latin typeface="Calibri"/>
                <a:hlinkClick r:id="rId27"/>
              </a:rPr>
              <a:t>huggingface.co/datasets/</a:t>
            </a:r>
          </a:p>
          <a:p>
            <a:pPr algn="l"/>
            <a:r>
              <a:rPr sz="900" b="0" i="0">
                <a:solidFill>
                  <a:srgbClr val="0070C0"/>
                </a:solidFill>
                <a:latin typeface="Calibri"/>
                <a:hlinkClick r:id="rId27"/>
              </a:rPr>
              <a:t>Mr66/itantra-packs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